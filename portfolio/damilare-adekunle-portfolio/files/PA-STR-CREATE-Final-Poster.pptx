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6" r:id="rId2"/>
  </p:sldIdLst>
  <p:sldSz cx="43891200" cy="3291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21" autoAdjust="0"/>
  </p:normalViewPr>
  <p:slideViewPr>
    <p:cSldViewPr snapToGrid="0">
      <p:cViewPr varScale="1">
        <p:scale>
          <a:sx n="10" d="100"/>
          <a:sy n="10" d="100"/>
        </p:scale>
        <p:origin x="384" y="15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3291840" y="5387342"/>
            <a:ext cx="37307520" cy="1146048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5486400" y="17289782"/>
            <a:ext cx="32918400" cy="794765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800"/>
              </a:spcBef>
              <a:spcAft>
                <a:spcPts val="0"/>
              </a:spcAft>
              <a:buClr>
                <a:schemeClr val="dk1"/>
              </a:buClr>
              <a:buSzPts val="11520"/>
              <a:buNone/>
              <a:defRPr sz="11520"/>
            </a:lvl1pPr>
            <a:lvl2pPr lvl="1" algn="ctr">
              <a:lnSpc>
                <a:spcPct val="90000"/>
              </a:lnSpc>
              <a:spcBef>
                <a:spcPts val="2400"/>
              </a:spcBef>
              <a:spcAft>
                <a:spcPts val="0"/>
              </a:spcAft>
              <a:buClr>
                <a:schemeClr val="dk1"/>
              </a:buClr>
              <a:buSzPts val="9600"/>
              <a:buNone/>
              <a:defRPr sz="9600"/>
            </a:lvl2pPr>
            <a:lvl3pPr lvl="2" algn="ctr">
              <a:lnSpc>
                <a:spcPct val="90000"/>
              </a:lnSpc>
              <a:spcBef>
                <a:spcPts val="2400"/>
              </a:spcBef>
              <a:spcAft>
                <a:spcPts val="0"/>
              </a:spcAft>
              <a:buClr>
                <a:schemeClr val="dk1"/>
              </a:buClr>
              <a:buSzPts val="8640"/>
              <a:buNone/>
              <a:defRPr sz="8640"/>
            </a:lvl3pPr>
            <a:lvl4pPr lvl="3" algn="ctr">
              <a:lnSpc>
                <a:spcPct val="90000"/>
              </a:lnSpc>
              <a:spcBef>
                <a:spcPts val="2400"/>
              </a:spcBef>
              <a:spcAft>
                <a:spcPts val="0"/>
              </a:spcAft>
              <a:buClr>
                <a:schemeClr val="dk1"/>
              </a:buClr>
              <a:buSzPts val="7680"/>
              <a:buNone/>
              <a:defRPr sz="7680"/>
            </a:lvl4pPr>
            <a:lvl5pPr lvl="4" algn="ctr">
              <a:lnSpc>
                <a:spcPct val="90000"/>
              </a:lnSpc>
              <a:spcBef>
                <a:spcPts val="2400"/>
              </a:spcBef>
              <a:spcAft>
                <a:spcPts val="0"/>
              </a:spcAft>
              <a:buClr>
                <a:schemeClr val="dk1"/>
              </a:buClr>
              <a:buSzPts val="7680"/>
              <a:buNone/>
              <a:defRPr sz="7680"/>
            </a:lvl5pPr>
            <a:lvl6pPr lvl="5" algn="ctr">
              <a:lnSpc>
                <a:spcPct val="90000"/>
              </a:lnSpc>
              <a:spcBef>
                <a:spcPts val="2400"/>
              </a:spcBef>
              <a:spcAft>
                <a:spcPts val="0"/>
              </a:spcAft>
              <a:buClr>
                <a:schemeClr val="dk1"/>
              </a:buClr>
              <a:buSzPts val="7680"/>
              <a:buNone/>
              <a:defRPr sz="7680"/>
            </a:lvl6pPr>
            <a:lvl7pPr lvl="6" algn="ctr">
              <a:lnSpc>
                <a:spcPct val="90000"/>
              </a:lnSpc>
              <a:spcBef>
                <a:spcPts val="2400"/>
              </a:spcBef>
              <a:spcAft>
                <a:spcPts val="0"/>
              </a:spcAft>
              <a:buClr>
                <a:schemeClr val="dk1"/>
              </a:buClr>
              <a:buSzPts val="7680"/>
              <a:buNone/>
              <a:defRPr sz="7680"/>
            </a:lvl7pPr>
            <a:lvl8pPr lvl="7" algn="ctr">
              <a:lnSpc>
                <a:spcPct val="90000"/>
              </a:lnSpc>
              <a:spcBef>
                <a:spcPts val="2400"/>
              </a:spcBef>
              <a:spcAft>
                <a:spcPts val="0"/>
              </a:spcAft>
              <a:buClr>
                <a:schemeClr val="dk1"/>
              </a:buClr>
              <a:buSzPts val="7680"/>
              <a:buNone/>
              <a:defRPr sz="7680"/>
            </a:lvl8pPr>
            <a:lvl9pPr lvl="8" algn="ctr">
              <a:lnSpc>
                <a:spcPct val="90000"/>
              </a:lnSpc>
              <a:spcBef>
                <a:spcPts val="2400"/>
              </a:spcBef>
              <a:spcAft>
                <a:spcPts val="0"/>
              </a:spcAft>
              <a:buClr>
                <a:schemeClr val="dk1"/>
              </a:buClr>
              <a:buSzPts val="7680"/>
              <a:buNone/>
              <a:defRPr sz="7680"/>
            </a:lvl9pPr>
          </a:lstStyle>
          <a:p>
            <a:endParaRPr/>
          </a:p>
        </p:txBody>
      </p:sp>
      <p:sp>
        <p:nvSpPr>
          <p:cNvPr id="14" name="Google Shape;14;p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2994662" y="8206749"/>
            <a:ext cx="37856160" cy="136931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2994662" y="22029429"/>
            <a:ext cx="37856160" cy="720089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11520"/>
              <a:buNone/>
              <a:defRPr sz="11520">
                <a:solidFill>
                  <a:schemeClr val="dk1"/>
                </a:solidFill>
              </a:defRPr>
            </a:lvl1pPr>
            <a:lvl2pPr marL="914400" lvl="1" indent="-228600" algn="l">
              <a:lnSpc>
                <a:spcPct val="90000"/>
              </a:lnSpc>
              <a:spcBef>
                <a:spcPts val="2400"/>
              </a:spcBef>
              <a:spcAft>
                <a:spcPts val="0"/>
              </a:spcAft>
              <a:buClr>
                <a:srgbClr val="888888"/>
              </a:buClr>
              <a:buSzPts val="9600"/>
              <a:buNone/>
              <a:defRPr sz="9600">
                <a:solidFill>
                  <a:srgbClr val="888888"/>
                </a:solidFill>
              </a:defRPr>
            </a:lvl2pPr>
            <a:lvl3pPr marL="1371600" lvl="2" indent="-228600" algn="l">
              <a:lnSpc>
                <a:spcPct val="90000"/>
              </a:lnSpc>
              <a:spcBef>
                <a:spcPts val="2400"/>
              </a:spcBef>
              <a:spcAft>
                <a:spcPts val="0"/>
              </a:spcAft>
              <a:buClr>
                <a:srgbClr val="888888"/>
              </a:buClr>
              <a:buSzPts val="8640"/>
              <a:buNone/>
              <a:defRPr sz="8640">
                <a:solidFill>
                  <a:srgbClr val="888888"/>
                </a:solidFill>
              </a:defRPr>
            </a:lvl3pPr>
            <a:lvl4pPr marL="1828800" lvl="3" indent="-228600" algn="l">
              <a:lnSpc>
                <a:spcPct val="90000"/>
              </a:lnSpc>
              <a:spcBef>
                <a:spcPts val="2400"/>
              </a:spcBef>
              <a:spcAft>
                <a:spcPts val="0"/>
              </a:spcAft>
              <a:buClr>
                <a:srgbClr val="888888"/>
              </a:buClr>
              <a:buSzPts val="7680"/>
              <a:buNone/>
              <a:defRPr sz="7680">
                <a:solidFill>
                  <a:srgbClr val="888888"/>
                </a:solidFill>
              </a:defRPr>
            </a:lvl4pPr>
            <a:lvl5pPr marL="2286000" lvl="4" indent="-228600" algn="l">
              <a:lnSpc>
                <a:spcPct val="90000"/>
              </a:lnSpc>
              <a:spcBef>
                <a:spcPts val="2400"/>
              </a:spcBef>
              <a:spcAft>
                <a:spcPts val="0"/>
              </a:spcAft>
              <a:buClr>
                <a:srgbClr val="888888"/>
              </a:buClr>
              <a:buSzPts val="7680"/>
              <a:buNone/>
              <a:defRPr sz="7680">
                <a:solidFill>
                  <a:srgbClr val="888888"/>
                </a:solidFill>
              </a:defRPr>
            </a:lvl5pPr>
            <a:lvl6pPr marL="2743200" lvl="5" indent="-228600" algn="l">
              <a:lnSpc>
                <a:spcPct val="90000"/>
              </a:lnSpc>
              <a:spcBef>
                <a:spcPts val="2400"/>
              </a:spcBef>
              <a:spcAft>
                <a:spcPts val="0"/>
              </a:spcAft>
              <a:buClr>
                <a:srgbClr val="888888"/>
              </a:buClr>
              <a:buSzPts val="7680"/>
              <a:buNone/>
              <a:defRPr sz="7680">
                <a:solidFill>
                  <a:srgbClr val="888888"/>
                </a:solidFill>
              </a:defRPr>
            </a:lvl6pPr>
            <a:lvl7pPr marL="3200400" lvl="6" indent="-228600" algn="l">
              <a:lnSpc>
                <a:spcPct val="90000"/>
              </a:lnSpc>
              <a:spcBef>
                <a:spcPts val="2400"/>
              </a:spcBef>
              <a:spcAft>
                <a:spcPts val="0"/>
              </a:spcAft>
              <a:buClr>
                <a:srgbClr val="888888"/>
              </a:buClr>
              <a:buSzPts val="7680"/>
              <a:buNone/>
              <a:defRPr sz="7680">
                <a:solidFill>
                  <a:srgbClr val="888888"/>
                </a:solidFill>
              </a:defRPr>
            </a:lvl7pPr>
            <a:lvl8pPr marL="3657600" lvl="7" indent="-228600" algn="l">
              <a:lnSpc>
                <a:spcPct val="90000"/>
              </a:lnSpc>
              <a:spcBef>
                <a:spcPts val="2400"/>
              </a:spcBef>
              <a:spcAft>
                <a:spcPts val="0"/>
              </a:spcAft>
              <a:buClr>
                <a:srgbClr val="888888"/>
              </a:buClr>
              <a:buSzPts val="7680"/>
              <a:buNone/>
              <a:defRPr sz="7680">
                <a:solidFill>
                  <a:srgbClr val="888888"/>
                </a:solidFill>
              </a:defRPr>
            </a:lvl8pPr>
            <a:lvl9pPr marL="4114800" lvl="8" indent="-228600" algn="l">
              <a:lnSpc>
                <a:spcPct val="90000"/>
              </a:lnSpc>
              <a:spcBef>
                <a:spcPts val="2400"/>
              </a:spcBef>
              <a:spcAft>
                <a:spcPts val="0"/>
              </a:spcAft>
              <a:buClr>
                <a:srgbClr val="888888"/>
              </a:buClr>
              <a:buSzPts val="7680"/>
              <a:buNone/>
              <a:defRPr sz="7680">
                <a:solidFill>
                  <a:srgbClr val="888888"/>
                </a:solidFill>
              </a:defRPr>
            </a:lvl9pPr>
          </a:lstStyle>
          <a:p>
            <a:endParaRPr/>
          </a:p>
        </p:txBody>
      </p:sp>
      <p:sp>
        <p:nvSpPr>
          <p:cNvPr id="26" name="Google Shape;26;p4"/>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0175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222199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023237"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3023242" y="8069582"/>
            <a:ext cx="18568032"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39" name="Google Shape;39;p6"/>
          <p:cNvSpPr txBox="1">
            <a:spLocks noGrp="1"/>
          </p:cNvSpPr>
          <p:nvPr>
            <p:ph type="body" idx="2"/>
          </p:nvPr>
        </p:nvSpPr>
        <p:spPr>
          <a:xfrm>
            <a:off x="3023242" y="12024360"/>
            <a:ext cx="18568032"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22219922" y="8069582"/>
            <a:ext cx="18659477"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41" name="Google Shape;41;p6"/>
          <p:cNvSpPr txBox="1">
            <a:spLocks noGrp="1"/>
          </p:cNvSpPr>
          <p:nvPr>
            <p:ph type="body" idx="4"/>
          </p:nvPr>
        </p:nvSpPr>
        <p:spPr>
          <a:xfrm>
            <a:off x="22219922" y="12024360"/>
            <a:ext cx="18659477"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18659477" y="4739647"/>
            <a:ext cx="22219920" cy="23393400"/>
          </a:xfrm>
          <a:prstGeom prst="rect">
            <a:avLst/>
          </a:prstGeom>
          <a:noFill/>
          <a:ln>
            <a:noFill/>
          </a:ln>
        </p:spPr>
        <p:txBody>
          <a:bodyPr spcFirstLastPara="1" wrap="square" lIns="91425" tIns="45700" rIns="91425" bIns="45700" anchor="t" anchorCtr="0">
            <a:normAutofit/>
          </a:bodyPr>
          <a:lstStyle>
            <a:lvl1pPr marL="457200" lvl="0" indent="-1203960" algn="l">
              <a:lnSpc>
                <a:spcPct val="90000"/>
              </a:lnSpc>
              <a:spcBef>
                <a:spcPts val="4800"/>
              </a:spcBef>
              <a:spcAft>
                <a:spcPts val="0"/>
              </a:spcAft>
              <a:buClr>
                <a:schemeClr val="dk1"/>
              </a:buClr>
              <a:buSzPts val="15360"/>
              <a:buChar char="•"/>
              <a:defRPr sz="15360"/>
            </a:lvl1pPr>
            <a:lvl2pPr marL="914400" lvl="1" indent="-1082040" algn="l">
              <a:lnSpc>
                <a:spcPct val="90000"/>
              </a:lnSpc>
              <a:spcBef>
                <a:spcPts val="2400"/>
              </a:spcBef>
              <a:spcAft>
                <a:spcPts val="0"/>
              </a:spcAft>
              <a:buClr>
                <a:schemeClr val="dk1"/>
              </a:buClr>
              <a:buSzPts val="13440"/>
              <a:buChar char="•"/>
              <a:defRPr sz="13439"/>
            </a:lvl2pPr>
            <a:lvl3pPr marL="1371600" lvl="2" indent="-960120" algn="l">
              <a:lnSpc>
                <a:spcPct val="90000"/>
              </a:lnSpc>
              <a:spcBef>
                <a:spcPts val="2400"/>
              </a:spcBef>
              <a:spcAft>
                <a:spcPts val="0"/>
              </a:spcAft>
              <a:buClr>
                <a:schemeClr val="dk1"/>
              </a:buClr>
              <a:buSzPts val="11520"/>
              <a:buChar char="•"/>
              <a:defRPr sz="11520"/>
            </a:lvl3pPr>
            <a:lvl4pPr marL="1828800" lvl="3" indent="-838200" algn="l">
              <a:lnSpc>
                <a:spcPct val="90000"/>
              </a:lnSpc>
              <a:spcBef>
                <a:spcPts val="2400"/>
              </a:spcBef>
              <a:spcAft>
                <a:spcPts val="0"/>
              </a:spcAft>
              <a:buClr>
                <a:schemeClr val="dk1"/>
              </a:buClr>
              <a:buSzPts val="9600"/>
              <a:buChar char="•"/>
              <a:defRPr sz="9600"/>
            </a:lvl4pPr>
            <a:lvl5pPr marL="2286000" lvl="4" indent="-838200" algn="l">
              <a:lnSpc>
                <a:spcPct val="90000"/>
              </a:lnSpc>
              <a:spcBef>
                <a:spcPts val="2400"/>
              </a:spcBef>
              <a:spcAft>
                <a:spcPts val="0"/>
              </a:spcAft>
              <a:buClr>
                <a:schemeClr val="dk1"/>
              </a:buClr>
              <a:buSzPts val="9600"/>
              <a:buChar char="•"/>
              <a:defRPr sz="9600"/>
            </a:lvl5pPr>
            <a:lvl6pPr marL="2743200" lvl="5" indent="-838200" algn="l">
              <a:lnSpc>
                <a:spcPct val="90000"/>
              </a:lnSpc>
              <a:spcBef>
                <a:spcPts val="2400"/>
              </a:spcBef>
              <a:spcAft>
                <a:spcPts val="0"/>
              </a:spcAft>
              <a:buClr>
                <a:schemeClr val="dk1"/>
              </a:buClr>
              <a:buSzPts val="9600"/>
              <a:buChar char="•"/>
              <a:defRPr sz="9600"/>
            </a:lvl6pPr>
            <a:lvl7pPr marL="3200400" lvl="6" indent="-838200" algn="l">
              <a:lnSpc>
                <a:spcPct val="90000"/>
              </a:lnSpc>
              <a:spcBef>
                <a:spcPts val="2400"/>
              </a:spcBef>
              <a:spcAft>
                <a:spcPts val="0"/>
              </a:spcAft>
              <a:buClr>
                <a:schemeClr val="dk1"/>
              </a:buClr>
              <a:buSzPts val="9600"/>
              <a:buChar char="•"/>
              <a:defRPr sz="9600"/>
            </a:lvl7pPr>
            <a:lvl8pPr marL="3657600" lvl="7" indent="-838200" algn="l">
              <a:lnSpc>
                <a:spcPct val="90000"/>
              </a:lnSpc>
              <a:spcBef>
                <a:spcPts val="2400"/>
              </a:spcBef>
              <a:spcAft>
                <a:spcPts val="0"/>
              </a:spcAft>
              <a:buClr>
                <a:schemeClr val="dk1"/>
              </a:buClr>
              <a:buSzPts val="9600"/>
              <a:buChar char="•"/>
              <a:defRPr sz="9600"/>
            </a:lvl8pPr>
            <a:lvl9pPr marL="4114800" lvl="8" indent="-838200" algn="l">
              <a:lnSpc>
                <a:spcPct val="90000"/>
              </a:lnSpc>
              <a:spcBef>
                <a:spcPts val="2400"/>
              </a:spcBef>
              <a:spcAft>
                <a:spcPts val="0"/>
              </a:spcAft>
              <a:buClr>
                <a:schemeClr val="dk1"/>
              </a:buClr>
              <a:buSzPts val="9600"/>
              <a:buChar char="•"/>
              <a:defRPr sz="9600"/>
            </a:lvl9pPr>
          </a:lstStyle>
          <a:p>
            <a:endParaRPr/>
          </a:p>
        </p:txBody>
      </p:sp>
      <p:sp>
        <p:nvSpPr>
          <p:cNvPr id="57" name="Google Shape;57;p9"/>
          <p:cNvSpPr txBox="1">
            <a:spLocks noGrp="1"/>
          </p:cNvSpPr>
          <p:nvPr>
            <p:ph type="body" idx="2"/>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19"/>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58" name="Google Shape;58;p9"/>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8659477" y="4739647"/>
            <a:ext cx="22219920" cy="23393400"/>
          </a:xfrm>
          <a:prstGeom prst="rect">
            <a:avLst/>
          </a:prstGeom>
          <a:noFill/>
          <a:ln>
            <a:noFill/>
          </a:ln>
        </p:spPr>
      </p:sp>
      <p:sp>
        <p:nvSpPr>
          <p:cNvPr id="64" name="Google Shape;64;p10"/>
          <p:cNvSpPr txBox="1">
            <a:spLocks noGrp="1"/>
          </p:cNvSpPr>
          <p:nvPr>
            <p:ph type="body" idx="1"/>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19"/>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65" name="Google Shape;65;p10"/>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11502389" y="278131"/>
            <a:ext cx="20886422" cy="3785616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22193251" y="10968991"/>
            <a:ext cx="27896822" cy="94640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2990851" y="1779271"/>
            <a:ext cx="27896822" cy="27843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5760" b="0" i="0" u="none" strike="noStrike" cap="none">
                <a:solidFill>
                  <a:srgbClr val="888888"/>
                </a:solidFill>
                <a:latin typeface="Calibri"/>
                <a:ea typeface="Calibri"/>
                <a:cs typeface="Calibri"/>
                <a:sym typeface="Calibri"/>
              </a:defRPr>
            </a:lvl1pPr>
            <a:lvl2pPr marL="0" marR="0" lvl="1" indent="0" algn="r" rtl="0">
              <a:spcBef>
                <a:spcPts val="0"/>
              </a:spcBef>
              <a:buNone/>
              <a:defRPr sz="5760" b="0" i="0" u="none" strike="noStrike" cap="none">
                <a:solidFill>
                  <a:srgbClr val="888888"/>
                </a:solidFill>
                <a:latin typeface="Calibri"/>
                <a:ea typeface="Calibri"/>
                <a:cs typeface="Calibri"/>
                <a:sym typeface="Calibri"/>
              </a:defRPr>
            </a:lvl2pPr>
            <a:lvl3pPr marL="0" marR="0" lvl="2" indent="0" algn="r" rtl="0">
              <a:spcBef>
                <a:spcPts val="0"/>
              </a:spcBef>
              <a:buNone/>
              <a:defRPr sz="5760" b="0" i="0" u="none" strike="noStrike" cap="none">
                <a:solidFill>
                  <a:srgbClr val="888888"/>
                </a:solidFill>
                <a:latin typeface="Calibri"/>
                <a:ea typeface="Calibri"/>
                <a:cs typeface="Calibri"/>
                <a:sym typeface="Calibri"/>
              </a:defRPr>
            </a:lvl3pPr>
            <a:lvl4pPr marL="0" marR="0" lvl="3" indent="0" algn="r" rtl="0">
              <a:spcBef>
                <a:spcPts val="0"/>
              </a:spcBef>
              <a:buNone/>
              <a:defRPr sz="5760" b="0" i="0" u="none" strike="noStrike" cap="none">
                <a:solidFill>
                  <a:srgbClr val="888888"/>
                </a:solidFill>
                <a:latin typeface="Calibri"/>
                <a:ea typeface="Calibri"/>
                <a:cs typeface="Calibri"/>
                <a:sym typeface="Calibri"/>
              </a:defRPr>
            </a:lvl4pPr>
            <a:lvl5pPr marL="0" marR="0" lvl="4" indent="0" algn="r" rtl="0">
              <a:spcBef>
                <a:spcPts val="0"/>
              </a:spcBef>
              <a:buNone/>
              <a:defRPr sz="5760" b="0" i="0" u="none" strike="noStrike" cap="none">
                <a:solidFill>
                  <a:srgbClr val="888888"/>
                </a:solidFill>
                <a:latin typeface="Calibri"/>
                <a:ea typeface="Calibri"/>
                <a:cs typeface="Calibri"/>
                <a:sym typeface="Calibri"/>
              </a:defRPr>
            </a:lvl5pPr>
            <a:lvl6pPr marL="0" marR="0" lvl="5" indent="0" algn="r" rtl="0">
              <a:spcBef>
                <a:spcPts val="0"/>
              </a:spcBef>
              <a:buNone/>
              <a:defRPr sz="5760" b="0" i="0" u="none" strike="noStrike" cap="none">
                <a:solidFill>
                  <a:srgbClr val="888888"/>
                </a:solidFill>
                <a:latin typeface="Calibri"/>
                <a:ea typeface="Calibri"/>
                <a:cs typeface="Calibri"/>
                <a:sym typeface="Calibri"/>
              </a:defRPr>
            </a:lvl6pPr>
            <a:lvl7pPr marL="0" marR="0" lvl="6" indent="0" algn="r" rtl="0">
              <a:spcBef>
                <a:spcPts val="0"/>
              </a:spcBef>
              <a:buNone/>
              <a:defRPr sz="5760" b="0" i="0" u="none" strike="noStrike" cap="none">
                <a:solidFill>
                  <a:srgbClr val="888888"/>
                </a:solidFill>
                <a:latin typeface="Calibri"/>
                <a:ea typeface="Calibri"/>
                <a:cs typeface="Calibri"/>
                <a:sym typeface="Calibri"/>
              </a:defRPr>
            </a:lvl7pPr>
            <a:lvl8pPr marL="0" marR="0" lvl="7" indent="0" algn="r" rtl="0">
              <a:spcBef>
                <a:spcPts val="0"/>
              </a:spcBef>
              <a:buNone/>
              <a:defRPr sz="5760" b="0" i="0" u="none" strike="noStrike" cap="none">
                <a:solidFill>
                  <a:srgbClr val="888888"/>
                </a:solidFill>
                <a:latin typeface="Calibri"/>
                <a:ea typeface="Calibri"/>
                <a:cs typeface="Calibri"/>
                <a:sym typeface="Calibri"/>
              </a:defRPr>
            </a:lvl8pPr>
            <a:lvl9pPr marL="0" marR="0" lvl="8" indent="0" algn="r" rtl="0">
              <a:spcBef>
                <a:spcPts val="0"/>
              </a:spcBef>
              <a:buNone/>
              <a:defRPr sz="576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1038/s41598-024-81919-5"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3.jpg"/><Relationship Id="rId10"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hyperlink" Target="https://doi.org/10.1007/s10072-020-04903-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5" name="Google Shape;85;p13"/>
          <p:cNvPicPr preferRelativeResize="0"/>
          <p:nvPr/>
        </p:nvPicPr>
        <p:blipFill>
          <a:blip r:embed="rId3">
            <a:alphaModFix/>
          </a:blip>
          <a:stretch>
            <a:fillRect/>
          </a:stretch>
        </p:blipFill>
        <p:spPr>
          <a:xfrm>
            <a:off x="9891787" y="20019181"/>
            <a:ext cx="8276099" cy="4524275"/>
          </a:xfrm>
          <a:prstGeom prst="rect">
            <a:avLst/>
          </a:prstGeom>
          <a:noFill/>
          <a:ln w="28575">
            <a:solidFill>
              <a:schemeClr val="tx1"/>
            </a:solidFill>
          </a:ln>
        </p:spPr>
      </p:pic>
      <p:pic>
        <p:nvPicPr>
          <p:cNvPr id="100" name="Google Shape;100;p13"/>
          <p:cNvPicPr preferRelativeResize="0"/>
          <p:nvPr/>
        </p:nvPicPr>
        <p:blipFill>
          <a:blip r:embed="rId4">
            <a:alphaModFix/>
          </a:blip>
          <a:stretch>
            <a:fillRect/>
          </a:stretch>
        </p:blipFill>
        <p:spPr>
          <a:xfrm>
            <a:off x="28187024" y="9939600"/>
            <a:ext cx="10922679" cy="3511380"/>
          </a:xfrm>
          <a:prstGeom prst="rect">
            <a:avLst/>
          </a:prstGeom>
          <a:noFill/>
          <a:ln>
            <a:noFill/>
          </a:ln>
        </p:spPr>
      </p:pic>
      <p:pic>
        <p:nvPicPr>
          <p:cNvPr id="106" name="Google Shape;106;p13" title="stroke-map.jpg"/>
          <p:cNvPicPr preferRelativeResize="0"/>
          <p:nvPr/>
        </p:nvPicPr>
        <p:blipFill rotWithShape="1">
          <a:blip r:embed="rId5">
            <a:alphaModFix/>
          </a:blip>
          <a:srcRect l="2391" t="1668" r="4203" b="2984"/>
          <a:stretch/>
        </p:blipFill>
        <p:spPr>
          <a:xfrm>
            <a:off x="8034950" y="8729550"/>
            <a:ext cx="8409600" cy="5558431"/>
          </a:xfrm>
          <a:prstGeom prst="rect">
            <a:avLst/>
          </a:prstGeom>
          <a:noFill/>
          <a:ln>
            <a:noFill/>
          </a:ln>
        </p:spPr>
      </p:pic>
      <p:sp>
        <p:nvSpPr>
          <p:cNvPr id="86" name="Google Shape;86;p13"/>
          <p:cNvSpPr txBox="1"/>
          <p:nvPr/>
        </p:nvSpPr>
        <p:spPr>
          <a:xfrm>
            <a:off x="4995025" y="994400"/>
            <a:ext cx="33881400" cy="2401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8500" b="1" dirty="0">
                <a:solidFill>
                  <a:srgbClr val="2F5496"/>
                </a:solidFill>
                <a:latin typeface="Times New Roman"/>
                <a:ea typeface="Times New Roman"/>
                <a:cs typeface="Times New Roman"/>
                <a:sym typeface="Times New Roman"/>
              </a:rPr>
              <a:t>The Effect of Regular Physical Activity on</a:t>
            </a:r>
            <a:r>
              <a:rPr lang="en-US" sz="8500" b="1" i="0" u="none" strike="noStrike" cap="none" dirty="0">
                <a:solidFill>
                  <a:srgbClr val="2F5496"/>
                </a:solidFill>
                <a:latin typeface="Times New Roman"/>
                <a:ea typeface="Times New Roman"/>
                <a:cs typeface="Times New Roman"/>
                <a:sym typeface="Times New Roman"/>
              </a:rPr>
              <a:t> the Risk of Developing Stroke</a:t>
            </a:r>
            <a:endParaRPr sz="1100" dirty="0"/>
          </a:p>
          <a:p>
            <a:pPr marL="0" marR="0" lvl="0" indent="0" algn="ctr" rtl="0">
              <a:spcBef>
                <a:spcPts val="0"/>
              </a:spcBef>
              <a:spcAft>
                <a:spcPts val="0"/>
              </a:spcAft>
              <a:buNone/>
            </a:pPr>
            <a:r>
              <a:rPr lang="en-US" sz="6000" b="0" i="0" u="none" strike="noStrike" cap="none" dirty="0">
                <a:solidFill>
                  <a:srgbClr val="000000"/>
                </a:solidFill>
                <a:latin typeface="Times New Roman"/>
                <a:ea typeface="Times New Roman"/>
                <a:cs typeface="Times New Roman"/>
                <a:sym typeface="Times New Roman"/>
              </a:rPr>
              <a:t>Damilare Adekunle, Bryan Banos, Ashley Blain, Shruti Mittal, Judy Raju</a:t>
            </a:r>
            <a:endParaRPr sz="33300" b="0" i="0" u="none" strike="noStrike" cap="none" dirty="0">
              <a:solidFill>
                <a:srgbClr val="FF0000"/>
              </a:solidFill>
              <a:latin typeface="Times New Roman"/>
              <a:ea typeface="Times New Roman"/>
              <a:cs typeface="Times New Roman"/>
              <a:sym typeface="Times New Roman"/>
            </a:endParaRPr>
          </a:p>
        </p:txBody>
      </p:sp>
      <p:pic>
        <p:nvPicPr>
          <p:cNvPr id="87" name="Google Shape;87;p13" descr="Image result for GGC logo art"/>
          <p:cNvPicPr preferRelativeResize="0"/>
          <p:nvPr/>
        </p:nvPicPr>
        <p:blipFill rotWithShape="1">
          <a:blip r:embed="rId6">
            <a:alphaModFix/>
          </a:blip>
          <a:srcRect/>
          <a:stretch/>
        </p:blipFill>
        <p:spPr>
          <a:xfrm>
            <a:off x="1346200" y="677325"/>
            <a:ext cx="3081425" cy="3081425"/>
          </a:xfrm>
          <a:prstGeom prst="rect">
            <a:avLst/>
          </a:prstGeom>
          <a:noFill/>
          <a:ln>
            <a:noFill/>
          </a:ln>
        </p:spPr>
      </p:pic>
      <p:pic>
        <p:nvPicPr>
          <p:cNvPr id="88" name="Google Shape;88;p13"/>
          <p:cNvPicPr preferRelativeResize="0"/>
          <p:nvPr/>
        </p:nvPicPr>
        <p:blipFill rotWithShape="1">
          <a:blip r:embed="rId7">
            <a:alphaModFix/>
          </a:blip>
          <a:srcRect/>
          <a:stretch/>
        </p:blipFill>
        <p:spPr>
          <a:xfrm>
            <a:off x="39109704" y="677325"/>
            <a:ext cx="3287871" cy="3188400"/>
          </a:xfrm>
          <a:prstGeom prst="rect">
            <a:avLst/>
          </a:prstGeom>
          <a:noFill/>
          <a:ln>
            <a:noFill/>
          </a:ln>
        </p:spPr>
      </p:pic>
      <p:sp>
        <p:nvSpPr>
          <p:cNvPr id="89" name="Google Shape;89;p13"/>
          <p:cNvSpPr txBox="1"/>
          <p:nvPr/>
        </p:nvSpPr>
        <p:spPr>
          <a:xfrm>
            <a:off x="1170250" y="28655400"/>
            <a:ext cx="41434800" cy="3702512"/>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just" rtl="0">
              <a:lnSpc>
                <a:spcPct val="115000"/>
              </a:lnSpc>
              <a:spcBef>
                <a:spcPts val="0"/>
              </a:spcBef>
              <a:spcAft>
                <a:spcPts val="0"/>
              </a:spcAft>
              <a:buNone/>
            </a:pP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REFERENCES: American Stroke Association</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(2019). Hemorrhagic Strokes (Bleeds). Www.stroke.org; American Stroke Association. https://www.stroke.org/en/about-stroke/types-of-stroke/hemorrhagic-strokes-bleeds.</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American Stroke Association</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(2024). Ischemic Strokes (Clots). American Stroke Association; American Heart Association. https://www.stroke.org/en/about-stroke/types-of-stroke/ischemic-stroke-clots.</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Boehme, A. K.,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Esenwa</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C., &amp; Elkind, M. S. V. (2017). Stroke Risk Factors, Genetics, and Prevention.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Circulation Research</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120</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(3), 472–495. https://www.ncbi.nlm.nih.gov/pmc/articles/PMC5321635/.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Celentano, D.D</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and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Szklo</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M. 2019. Gordis Epidemiology, 6th Ed. (pp 276-280). Elsevier.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Dishman, R.K., </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Heath, G.W., and Lee, I (2013). Physical Activity Epidemiology, 2nd edition (p. 35). Human Kinetics.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Feigin, V. L.,</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Stark, B. A., Johnson, C. O., Roth, G. A., Bisignano, C., Abady, G. G.,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Abbasifard</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M., Abbasi-</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Kangevari</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M., Abd-Allah, F., Abedi, V.,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Abualhasan</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 Abu-</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Rmeileh</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N. M.,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Abushouk</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 I., Adebayo, O. M., Agarwal, G., Agasthi, P.,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Ahinkorah</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B. O., Ahmad, S., Ahmadi, S., &amp; Ahmed Salih, Y. (2021). Global, regional, and national burden of stroke and its risk factors, 1990–2019: A systematic analysis for the global burden of disease study 2019.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The Lancet Neurology</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20</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(10), 795–820. https://doi.org/10.1016/s1474-4422(21)00252-0. </a:t>
            </a:r>
            <a:r>
              <a:rPr lang="en-US" sz="1700" b="1"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Ghozy</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S.,</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Zayan, A. H., El-</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Qushayri</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 E., Parker, K. E., Varney, J.,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Kallmes</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K. M., Morsy, S., Abbas, A. S.,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Diestro</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J. D. B.,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Dmytriw</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 A., Shah, J., Hassan, A. E., &amp; Islam, S. M. S. (2022). Physical activity level and stroke risk in US population: A matched case-control study of 102,578 individuals.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Annals of clinical and translational neurology</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9</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(3), 264–275. https://doi.org/10.1002/acn3.51511.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Gong, J.,</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Chen, X., &amp; Li, S. (2015). Efficacy of a Community-Based Physical Activity Program KM2H</a:t>
            </a:r>
            <a:r>
              <a:rPr lang="en-US" sz="1700" b="0" i="0" strike="noStrike" cap="none" baseline="30000" dirty="0">
                <a:solidFill>
                  <a:schemeClr val="tx1"/>
                </a:solidFill>
                <a:latin typeface="Times New Roman" panose="02020603050405020304" pitchFamily="18" charset="0"/>
                <a:ea typeface="Times New Roman"/>
                <a:cs typeface="Times New Roman" panose="02020603050405020304" pitchFamily="18" charset="0"/>
                <a:sym typeface="Times New Roman"/>
              </a:rPr>
              <a:t>2</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for Stroke and Heart Attack Prevention among Senior Hypertensive Patients: A Cluster Randomized Controlled Phase-II Trial.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PLOS ONE</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10</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(10), e0139442. https://doi.org/10.1371/journal.pone.0139442.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Hill, A.B., </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1965. The Environment and Disease: Association or Causation?  Proceedings of the Royal Society of Medicine. 58: pp. 295-300.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Hui, C.,</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Tadi, P., &amp; Patti, L. (2024).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Ischemic stroke</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National Library of Medicine;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StatPearls</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Publishing. https://www.ncbi.nlm.nih.gov/books/NBK499997/.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Jiang, C.,</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Chen, T., Xiang, J., &amp; Pang, Y. (2024). Association between physical activity levels and stroke risk among Chinese adults aged 45 and over based on CHARLS.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Scientific Reports, 14</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31739.</a:t>
            </a:r>
            <a:r>
              <a:rPr lang="en-US" sz="1700" b="0" i="0" strike="noStrike" cap="none" dirty="0">
                <a:solidFill>
                  <a:schemeClr val="tx1"/>
                </a:solidFill>
                <a:uFill>
                  <a:noFill/>
                </a:uFill>
                <a:latin typeface="Times New Roman" panose="02020603050405020304" pitchFamily="18" charset="0"/>
                <a:ea typeface="Times New Roman"/>
                <a:cs typeface="Times New Roman" panose="02020603050405020304" pitchFamily="18" charset="0"/>
                <a:sym typeface="Times New Roman"/>
                <a:hlinkClick r:id="rId8">
                  <a:extLst>
                    <a:ext uri="{A12FA001-AC4F-418D-AE19-62706E023703}">
                      <ahyp:hlinkClr xmlns:ahyp="http://schemas.microsoft.com/office/drawing/2018/hyperlinkcolor" val="tx"/>
                    </a:ext>
                  </a:extLst>
                </a:hlinkClick>
              </a:rPr>
              <a:t> https://doi.org/10.1038/s41598-024-81919-5</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1700" b="1"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Khaku</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&amp; Tadi, P. (2023).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Cerebrovascular disease</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PubMed;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StatPearls</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Publishing. https://www.ncbi.nlm.nih.gov/books/NBK430927/.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Khan, S. U.,</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Khan, M. Z., Khan, M. U., Khan, M. S., Mamas, M. A., Rashid, M., Blankstein, R., Virani, S. S., Johansen, M. C., Shapiro, M. D., Blaha, M. J.,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Cainzos-Achirica</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M.,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Vahidy</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F. S., &amp; Nasir, K. (2021). Clinical and Economic Burden of Stroke Among Young, Midlife, and Older Adults in the United States, 2002-2017.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Mayo Clinic Proceedings: Innovations, Quality &amp; Outcomes</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5</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(2), 431–441. https://doi.org/10.1016/j.mayocpiqo.2021.01.015.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Mill, J.S., </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1843. A system of logic, ratiocinative and inductive, being a connected view of the principles of evidence and the methods of scientific investigation. Volume 1, pp. 1-580. John W. Parker. </a:t>
            </a:r>
            <a:r>
              <a:rPr lang="en-US" sz="1700" b="1"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Morovatdar</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N.,</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Di Napoli, M., Stranges, S., Thrift, A. G., Kapral, M., Behrouz, R.,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Farzadfard</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M. T.,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Andalibi</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M. S. S.,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Oskooie</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R. R., Sawant, A.,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Mokhber</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N., &amp; </a:t>
            </a:r>
            <a:r>
              <a:rPr lang="en-US" sz="1700" b="0" i="0" strike="noStrike" cap="none" dirty="0" err="1">
                <a:solidFill>
                  <a:schemeClr val="tx1"/>
                </a:solidFill>
                <a:latin typeface="Times New Roman" panose="02020603050405020304" pitchFamily="18" charset="0"/>
                <a:ea typeface="Times New Roman"/>
                <a:cs typeface="Times New Roman" panose="02020603050405020304" pitchFamily="18" charset="0"/>
                <a:sym typeface="Times New Roman"/>
              </a:rPr>
              <a:t>Azarpazhooh</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M. R. (2021). Regular physical activity postpones age of occurrence of first-ever stroke and improves long-term outcomes. Neurological Sciences, 42(8), 3203–3210.</a:t>
            </a:r>
            <a:r>
              <a:rPr lang="en-US" sz="1700" b="0" i="0" strike="noStrike" cap="none" dirty="0">
                <a:solidFill>
                  <a:schemeClr val="tx1"/>
                </a:solidFill>
                <a:uFill>
                  <a:noFill/>
                </a:uFill>
                <a:latin typeface="Times New Roman" panose="02020603050405020304" pitchFamily="18" charset="0"/>
                <a:ea typeface="Times New Roman"/>
                <a:cs typeface="Times New Roman" panose="02020603050405020304" pitchFamily="18" charset="0"/>
                <a:sym typeface="Times New Roman"/>
                <a:hlinkClick r:id="rId9">
                  <a:extLst>
                    <a:ext uri="{A12FA001-AC4F-418D-AE19-62706E023703}">
                      <ahyp:hlinkClr xmlns:ahyp="http://schemas.microsoft.com/office/drawing/2018/hyperlinkcolor" val="tx"/>
                    </a:ext>
                  </a:extLst>
                </a:hlinkClick>
              </a:rPr>
              <a:t> https://doi.org/10.1007/s10072-020-04903-7</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National Heart, Lung and Blood Institute</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(2023, May 26). Stroke - What Is a Stroke? Www.nhlbi.nih.gov. https://www.nhlbi.nih.gov/health/stroke.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NIH</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(2016, December).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How many people are affected by/at risk for stroke?</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Http://Www.nichd.nih.gov/. https://www.nichd.nih.gov/health/topics/stroke/conditioninfo/risk.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Szumilas, M.</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(2010). Explaining Odds Ratios.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Journal of the Canadian Academy of Child and Adolescent Psychiatry</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a:t>
            </a:r>
            <a:r>
              <a:rPr lang="en-US" sz="1700" b="0" i="1"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19</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(3), 227. https://pmc.ncbi.nlm.nih.gov/articles/PMC2938757/.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US Department of Health</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Education and Welfare, 1964.  Smoking and Health: Report of the Advisory Committee to the Surgeon General. Washington, DC: Public Health Service.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Wendel-Vos, G.</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(2004). Physical activity and stroke. A meta-analysis of observational data. International Journal of Epidemiology, 33(4), 787–798. https://doi.org/10.1093/ije/dyh168. </a:t>
            </a:r>
            <a:r>
              <a:rPr lang="en-US" sz="1700" b="1"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Zheng, G.,</a:t>
            </a:r>
            <a:r>
              <a:rPr lang="en-US" sz="1700" b="0" i="0" strike="noStrike" cap="none" dirty="0">
                <a:solidFill>
                  <a:schemeClr val="tx1"/>
                </a:solidFill>
                <a:latin typeface="Times New Roman" panose="02020603050405020304" pitchFamily="18" charset="0"/>
                <a:ea typeface="Times New Roman"/>
                <a:cs typeface="Times New Roman" panose="02020603050405020304" pitchFamily="18" charset="0"/>
                <a:sym typeface="Times New Roman"/>
              </a:rPr>
              <a:t> Zheng, X., Li, J., Duan, T., Ling, K., Tao, J., &amp; Chen, L. (2019). Effects of Tai Chi on cerebral hemodynamics and health-related outcomes in older community adults at risk of ischemic stroke: A randomized controlled trial. Journal of Aging and Physical Activity, 27(5), 678–687.https://doi.org/10.1123/japa.2018-0232. </a:t>
            </a:r>
            <a:r>
              <a:rPr lang="en-US" sz="1700" b="1" dirty="0">
                <a:solidFill>
                  <a:schemeClr val="tx1"/>
                </a:solidFill>
                <a:latin typeface="Times New Roman" panose="02020603050405020304" pitchFamily="18" charset="0"/>
                <a:ea typeface="Times New Roman"/>
                <a:cs typeface="Times New Roman" panose="02020603050405020304" pitchFamily="18" charset="0"/>
                <a:sym typeface="Times New Roman"/>
              </a:rPr>
              <a:t>Centers for Disease Control and Prevention</a:t>
            </a:r>
            <a:r>
              <a:rPr lang="en-US" sz="1700" dirty="0">
                <a:solidFill>
                  <a:schemeClr val="tx1"/>
                </a:solidFill>
                <a:latin typeface="Times New Roman" panose="02020603050405020304" pitchFamily="18" charset="0"/>
                <a:cs typeface="Times New Roman" panose="02020603050405020304" pitchFamily="18" charset="0"/>
              </a:rPr>
              <a:t>.</a:t>
            </a:r>
            <a:r>
              <a:rPr lang="en-US" sz="1700" dirty="0">
                <a:solidFill>
                  <a:schemeClr val="tx1"/>
                </a:solidFill>
                <a:latin typeface="Times New Roman" panose="02020603050405020304" pitchFamily="18" charset="0"/>
                <a:ea typeface="Times New Roman"/>
                <a:cs typeface="Times New Roman" panose="02020603050405020304" pitchFamily="18" charset="0"/>
                <a:sym typeface="Times New Roman"/>
              </a:rPr>
              <a:t> (2024). </a:t>
            </a:r>
            <a:r>
              <a:rPr lang="en-US" sz="1700" i="1" dirty="0">
                <a:solidFill>
                  <a:schemeClr val="tx1"/>
                </a:solidFill>
                <a:latin typeface="Times New Roman" panose="02020603050405020304" pitchFamily="18" charset="0"/>
                <a:ea typeface="Times New Roman"/>
                <a:cs typeface="Times New Roman" panose="02020603050405020304" pitchFamily="18" charset="0"/>
                <a:sym typeface="Times New Roman"/>
              </a:rPr>
              <a:t>Stroke facts</a:t>
            </a:r>
            <a:r>
              <a:rPr lang="en-US" sz="1700" dirty="0">
                <a:solidFill>
                  <a:schemeClr val="tx1"/>
                </a:solidFill>
                <a:latin typeface="Times New Roman" panose="02020603050405020304" pitchFamily="18" charset="0"/>
                <a:ea typeface="Times New Roman"/>
                <a:cs typeface="Times New Roman" panose="02020603050405020304" pitchFamily="18" charset="0"/>
                <a:sym typeface="Times New Roman"/>
              </a:rPr>
              <a:t>. Stroke; CDC. https://www.cdc.gov/stroke/data-research/facts-stats/index.html</a:t>
            </a:r>
            <a:endParaRPr sz="1700" dirty="0">
              <a:solidFill>
                <a:schemeClr val="tx1"/>
              </a:solidFill>
              <a:latin typeface="Times New Roman" panose="02020603050405020304" pitchFamily="18" charset="0"/>
              <a:ea typeface="Times New Roman"/>
              <a:cs typeface="Times New Roman" panose="02020603050405020304" pitchFamily="18" charset="0"/>
              <a:sym typeface="Times New Roman"/>
            </a:endParaRPr>
          </a:p>
        </p:txBody>
      </p:sp>
      <p:sp>
        <p:nvSpPr>
          <p:cNvPr id="90" name="Google Shape;90;p13"/>
          <p:cNvSpPr txBox="1"/>
          <p:nvPr/>
        </p:nvSpPr>
        <p:spPr>
          <a:xfrm>
            <a:off x="1306300" y="4305900"/>
            <a:ext cx="14580600" cy="3971100"/>
          </a:xfrm>
          <a:prstGeom prst="rect">
            <a:avLst/>
          </a:prstGeom>
          <a:solidFill>
            <a:schemeClr val="lt1"/>
          </a:solidFill>
          <a:ln w="38100" cap="flat" cmpd="sng">
            <a:solidFill>
              <a:schemeClr val="tx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sng" strike="noStrike" cap="none" dirty="0">
                <a:solidFill>
                  <a:schemeClr val="dk1"/>
                </a:solidFill>
                <a:latin typeface="Times New Roman"/>
                <a:ea typeface="Times New Roman"/>
                <a:cs typeface="Times New Roman"/>
                <a:sym typeface="Times New Roman"/>
              </a:rPr>
              <a:t>INTRODUCTION: </a:t>
            </a:r>
            <a:r>
              <a:rPr lang="en-US" sz="3600" b="0" i="0" u="none" strike="noStrike" cap="none" dirty="0">
                <a:solidFill>
                  <a:schemeClr val="dk1"/>
                </a:solidFill>
                <a:latin typeface="Times New Roman"/>
                <a:ea typeface="Times New Roman"/>
                <a:cs typeface="Times New Roman"/>
                <a:sym typeface="Times New Roman"/>
              </a:rPr>
              <a:t>Stroke is classified as one of the second to third primary causes</a:t>
            </a:r>
            <a:r>
              <a:rPr lang="en-US" sz="3600" dirty="0">
                <a:solidFill>
                  <a:schemeClr val="dk1"/>
                </a:solidFill>
                <a:latin typeface="Times New Roman"/>
                <a:ea typeface="Times New Roman"/>
                <a:cs typeface="Times New Roman"/>
                <a:sym typeface="Times New Roman"/>
              </a:rPr>
              <a:t> </a:t>
            </a:r>
            <a:r>
              <a:rPr lang="en-US" sz="3600" b="0" i="0" u="none" strike="noStrike" cap="none" dirty="0">
                <a:solidFill>
                  <a:schemeClr val="dk1"/>
                </a:solidFill>
                <a:latin typeface="Times New Roman"/>
                <a:ea typeface="Times New Roman"/>
                <a:cs typeface="Times New Roman"/>
                <a:sym typeface="Times New Roman"/>
              </a:rPr>
              <a:t>of death worldwide and ranked as the fifth cause of death</a:t>
            </a:r>
            <a:r>
              <a:rPr lang="en-US" sz="3600" dirty="0">
                <a:solidFill>
                  <a:schemeClr val="dk1"/>
                </a:solidFill>
                <a:latin typeface="Times New Roman"/>
                <a:ea typeface="Times New Roman"/>
                <a:cs typeface="Times New Roman"/>
                <a:sym typeface="Times New Roman"/>
              </a:rPr>
              <a:t> </a:t>
            </a:r>
            <a:r>
              <a:rPr lang="en-US" sz="3600" b="0" i="0" u="none" strike="noStrike" cap="none" dirty="0">
                <a:solidFill>
                  <a:schemeClr val="dk1"/>
                </a:solidFill>
                <a:latin typeface="Times New Roman"/>
                <a:ea typeface="Times New Roman"/>
                <a:cs typeface="Times New Roman"/>
                <a:sym typeface="Times New Roman"/>
              </a:rPr>
              <a:t>in the U.S. Nearly 800,000 individuals are affected yearly,</a:t>
            </a:r>
            <a:r>
              <a:rPr lang="en-US" sz="3600" dirty="0">
                <a:solidFill>
                  <a:schemeClr val="dk1"/>
                </a:solidFill>
                <a:latin typeface="Times New Roman"/>
                <a:ea typeface="Times New Roman"/>
                <a:cs typeface="Times New Roman"/>
                <a:sym typeface="Times New Roman"/>
              </a:rPr>
              <a:t> </a:t>
            </a:r>
            <a:r>
              <a:rPr lang="en-US" sz="3600" b="0" i="0" u="none" strike="noStrike" cap="none" dirty="0">
                <a:solidFill>
                  <a:schemeClr val="dk1"/>
                </a:solidFill>
                <a:latin typeface="Times New Roman"/>
                <a:ea typeface="Times New Roman"/>
                <a:cs typeface="Times New Roman"/>
                <a:sym typeface="Times New Roman"/>
              </a:rPr>
              <a:t>with 600,000 of those individuals</a:t>
            </a:r>
            <a:r>
              <a:rPr lang="en-US" sz="3600" dirty="0">
                <a:solidFill>
                  <a:schemeClr val="dk1"/>
                </a:solidFill>
                <a:latin typeface="Times New Roman"/>
                <a:ea typeface="Times New Roman"/>
                <a:cs typeface="Times New Roman"/>
                <a:sym typeface="Times New Roman"/>
              </a:rPr>
              <a:t> </a:t>
            </a:r>
            <a:r>
              <a:rPr lang="en-US" sz="3600" b="0" i="0" u="none" strike="noStrike" cap="none" dirty="0">
                <a:solidFill>
                  <a:schemeClr val="dk1"/>
                </a:solidFill>
                <a:latin typeface="Times New Roman"/>
                <a:ea typeface="Times New Roman"/>
                <a:cs typeface="Times New Roman"/>
                <a:sym typeface="Times New Roman"/>
              </a:rPr>
              <a:t>experiencing it for the first time, while 87% of strokes are ischemic. The cost of this condition and death rates </a:t>
            </a:r>
            <a:r>
              <a:rPr lang="en-US" sz="3600" dirty="0">
                <a:solidFill>
                  <a:schemeClr val="dk1"/>
                </a:solidFill>
                <a:latin typeface="Times New Roman"/>
                <a:ea typeface="Times New Roman"/>
                <a:cs typeface="Times New Roman"/>
                <a:sym typeface="Times New Roman"/>
              </a:rPr>
              <a:t>on each age group can be seen in Fig. 1 and Fig. 2.</a:t>
            </a:r>
            <a:r>
              <a:rPr lang="en-US" sz="3600" b="0" i="0" u="none" strike="noStrike" cap="none" dirty="0">
                <a:solidFill>
                  <a:schemeClr val="dk1"/>
                </a:solidFill>
                <a:latin typeface="Times New Roman"/>
                <a:ea typeface="Times New Roman"/>
                <a:cs typeface="Times New Roman"/>
                <a:sym typeface="Times New Roman"/>
              </a:rPr>
              <a:t> This poster focuses</a:t>
            </a:r>
            <a:r>
              <a:rPr lang="en-US" sz="3600" dirty="0">
                <a:solidFill>
                  <a:schemeClr val="dk1"/>
                </a:solidFill>
                <a:latin typeface="Times New Roman"/>
                <a:ea typeface="Times New Roman"/>
                <a:cs typeface="Times New Roman"/>
                <a:sym typeface="Times New Roman"/>
              </a:rPr>
              <a:t> </a:t>
            </a:r>
            <a:r>
              <a:rPr lang="en-US" sz="3600" b="0" i="0" u="none" strike="noStrike" cap="none" dirty="0">
                <a:solidFill>
                  <a:schemeClr val="dk1"/>
                </a:solidFill>
                <a:latin typeface="Times New Roman"/>
                <a:ea typeface="Times New Roman"/>
                <a:cs typeface="Times New Roman"/>
                <a:sym typeface="Times New Roman"/>
              </a:rPr>
              <a:t>on analyzing and determining whether physical activity (PA) reduces the risk of developing stroke.</a:t>
            </a:r>
            <a:endParaRPr sz="3600" b="0" i="0" u="none" strike="noStrike" cap="none" dirty="0">
              <a:solidFill>
                <a:schemeClr val="dk1"/>
              </a:solidFill>
              <a:latin typeface="Times New Roman"/>
              <a:ea typeface="Times New Roman"/>
              <a:cs typeface="Times New Roman"/>
              <a:sym typeface="Times New Roman"/>
            </a:endParaRPr>
          </a:p>
        </p:txBody>
      </p:sp>
      <p:sp>
        <p:nvSpPr>
          <p:cNvPr id="91" name="Google Shape;91;p13"/>
          <p:cNvSpPr txBox="1"/>
          <p:nvPr/>
        </p:nvSpPr>
        <p:spPr>
          <a:xfrm>
            <a:off x="28540800" y="4305900"/>
            <a:ext cx="14044200" cy="5633700"/>
          </a:xfrm>
          <a:prstGeom prst="rect">
            <a:avLst/>
          </a:prstGeom>
          <a:solidFill>
            <a:schemeClr val="lt1"/>
          </a:solidFill>
          <a:ln w="38100" cap="flat" cmpd="sng">
            <a:solidFill>
              <a:schemeClr val="tx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r" rtl="0">
              <a:spcBef>
                <a:spcPts val="0"/>
              </a:spcBef>
              <a:spcAft>
                <a:spcPts val="0"/>
              </a:spcAft>
              <a:buNone/>
            </a:pPr>
            <a:r>
              <a:rPr lang="en-US" sz="3600" b="1" i="0" u="sng" strike="noStrike" cap="none" dirty="0">
                <a:solidFill>
                  <a:schemeClr val="dk1"/>
                </a:solidFill>
                <a:latin typeface="Times New Roman"/>
                <a:ea typeface="Times New Roman"/>
                <a:cs typeface="Times New Roman"/>
                <a:sym typeface="Times New Roman"/>
              </a:rPr>
              <a:t>MILL’S CANONS: </a:t>
            </a:r>
            <a:r>
              <a:rPr lang="en-US" sz="3600" b="0" i="0" u="none" strike="noStrike" cap="none" dirty="0">
                <a:solidFill>
                  <a:schemeClr val="dk1"/>
                </a:solidFill>
                <a:latin typeface="Times New Roman"/>
                <a:ea typeface="Times New Roman"/>
                <a:cs typeface="Times New Roman"/>
                <a:sym typeface="Times New Roman"/>
              </a:rPr>
              <a:t>Researchers have developed criteria for determining whether a factor is causal for an outcome, e.g., whether physical activity decreases the risk of stroke. For instance, the US Department of Health, Education, and Welfare reported 9 criteria (1964).  These criteria stem from the works of great thinkers such as A.B. Hill, 1965, and J.S. Mill, 1843.</a:t>
            </a:r>
            <a:r>
              <a:rPr lang="en-US" sz="3600" dirty="0">
                <a:solidFill>
                  <a:schemeClr val="dk1"/>
                </a:solidFill>
                <a:latin typeface="Times New Roman"/>
                <a:ea typeface="Times New Roman"/>
                <a:cs typeface="Times New Roman"/>
                <a:sym typeface="Times New Roman"/>
              </a:rPr>
              <a:t> </a:t>
            </a:r>
            <a:r>
              <a:rPr lang="en-US" sz="3600" b="0" i="0" u="none" strike="noStrike" cap="none" dirty="0">
                <a:solidFill>
                  <a:schemeClr val="dk1"/>
                </a:solidFill>
                <a:latin typeface="Times New Roman"/>
                <a:ea typeface="Times New Roman"/>
                <a:cs typeface="Times New Roman"/>
                <a:sym typeface="Times New Roman"/>
              </a:rPr>
              <a:t>Ultimately, these criteria can be condensed into six guidelines, often referred to as Mill’s Canons (</a:t>
            </a:r>
            <a:r>
              <a:rPr lang="en-US" sz="3600" b="0" i="0" u="none" strike="noStrike" cap="none" dirty="0" err="1">
                <a:solidFill>
                  <a:schemeClr val="dk1"/>
                </a:solidFill>
                <a:latin typeface="Times New Roman"/>
                <a:ea typeface="Times New Roman"/>
                <a:cs typeface="Times New Roman"/>
                <a:sym typeface="Times New Roman"/>
              </a:rPr>
              <a:t>Dishman,et</a:t>
            </a:r>
            <a:r>
              <a:rPr lang="en-US" sz="3600" b="0" i="0" u="none" strike="noStrike" cap="none" dirty="0">
                <a:solidFill>
                  <a:schemeClr val="dk1"/>
                </a:solidFill>
                <a:latin typeface="Times New Roman"/>
                <a:ea typeface="Times New Roman"/>
                <a:cs typeface="Times New Roman"/>
                <a:sym typeface="Times New Roman"/>
              </a:rPr>
              <a:t> al, 2013; Celentano &amp; </a:t>
            </a:r>
            <a:r>
              <a:rPr lang="en-US" sz="3600" b="0" i="0" u="none" strike="noStrike" cap="none" dirty="0" err="1">
                <a:solidFill>
                  <a:schemeClr val="dk1"/>
                </a:solidFill>
                <a:latin typeface="Times New Roman"/>
                <a:ea typeface="Times New Roman"/>
                <a:cs typeface="Times New Roman"/>
                <a:sym typeface="Times New Roman"/>
              </a:rPr>
              <a:t>Szklo</a:t>
            </a:r>
            <a:r>
              <a:rPr lang="en-US" sz="3600" b="0" i="0" u="none" strike="noStrike" cap="none" dirty="0">
                <a:solidFill>
                  <a:schemeClr val="dk1"/>
                </a:solidFill>
                <a:latin typeface="Times New Roman"/>
                <a:ea typeface="Times New Roman"/>
                <a:cs typeface="Times New Roman"/>
                <a:sym typeface="Times New Roman"/>
              </a:rPr>
              <a:t>, 2019).  These guidelines, further described, are </a:t>
            </a:r>
            <a:r>
              <a:rPr lang="en-US" sz="3600" b="1" i="0" u="none" strike="noStrike" cap="none" dirty="0">
                <a:solidFill>
                  <a:schemeClr val="dk1"/>
                </a:solidFill>
                <a:latin typeface="Times New Roman"/>
                <a:ea typeface="Times New Roman"/>
                <a:cs typeface="Times New Roman"/>
                <a:sym typeface="Times New Roman"/>
              </a:rPr>
              <a:t>Temporality,</a:t>
            </a:r>
            <a:r>
              <a:rPr lang="en-US" sz="3600" b="1" dirty="0">
                <a:solidFill>
                  <a:schemeClr val="dk1"/>
                </a:solidFill>
                <a:latin typeface="Times New Roman"/>
                <a:ea typeface="Times New Roman"/>
                <a:cs typeface="Times New Roman"/>
                <a:sym typeface="Times New Roman"/>
              </a:rPr>
              <a:t> </a:t>
            </a:r>
            <a:r>
              <a:rPr lang="en-US" sz="3600" b="1" i="0" u="none" strike="noStrike" cap="none" dirty="0">
                <a:solidFill>
                  <a:schemeClr val="dk1"/>
                </a:solidFill>
                <a:latin typeface="Times New Roman"/>
                <a:ea typeface="Times New Roman"/>
                <a:cs typeface="Times New Roman"/>
                <a:sym typeface="Times New Roman"/>
              </a:rPr>
              <a:t>Consistency, Strength of Association, Dose Response, Plausibility and</a:t>
            </a:r>
            <a:r>
              <a:rPr lang="en-US" sz="3600" b="1" dirty="0">
                <a:solidFill>
                  <a:schemeClr val="dk1"/>
                </a:solidFill>
                <a:latin typeface="Times New Roman"/>
                <a:ea typeface="Times New Roman"/>
                <a:cs typeface="Times New Roman"/>
                <a:sym typeface="Times New Roman"/>
              </a:rPr>
              <a:t> </a:t>
            </a:r>
            <a:r>
              <a:rPr lang="en-US" sz="3600" b="1" i="0" u="none" strike="noStrike" cap="none" dirty="0">
                <a:solidFill>
                  <a:schemeClr val="dk1"/>
                </a:solidFill>
                <a:latin typeface="Times New Roman"/>
                <a:ea typeface="Times New Roman"/>
                <a:cs typeface="Times New Roman"/>
                <a:sym typeface="Times New Roman"/>
              </a:rPr>
              <a:t>Independence.</a:t>
            </a:r>
            <a:r>
              <a:rPr lang="en-US" sz="3600" b="0" i="0" u="none" strike="noStrike" cap="none" dirty="0">
                <a:solidFill>
                  <a:schemeClr val="dk1"/>
                </a:solidFill>
                <a:latin typeface="Times New Roman"/>
                <a:ea typeface="Times New Roman"/>
                <a:cs typeface="Times New Roman"/>
                <a:sym typeface="Times New Roman"/>
              </a:rPr>
              <a:t>  </a:t>
            </a:r>
            <a:endParaRPr sz="3600" b="0" i="0" u="none" strike="noStrike" cap="none" dirty="0">
              <a:solidFill>
                <a:schemeClr val="dk1"/>
              </a:solidFill>
              <a:latin typeface="Times New Roman"/>
              <a:ea typeface="Times New Roman"/>
              <a:cs typeface="Times New Roman"/>
              <a:sym typeface="Times New Roman"/>
            </a:endParaRPr>
          </a:p>
        </p:txBody>
      </p:sp>
      <p:sp>
        <p:nvSpPr>
          <p:cNvPr id="92" name="Google Shape;92;p13"/>
          <p:cNvSpPr txBox="1"/>
          <p:nvPr/>
        </p:nvSpPr>
        <p:spPr>
          <a:xfrm>
            <a:off x="1259500" y="8802250"/>
            <a:ext cx="6512749" cy="6740266"/>
          </a:xfrm>
          <a:prstGeom prst="rect">
            <a:avLst/>
          </a:prstGeom>
          <a:solidFill>
            <a:schemeClr val="lt1"/>
          </a:solidFill>
          <a:ln w="38100" cap="flat" cmpd="sng">
            <a:no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dirty="0">
                <a:solidFill>
                  <a:srgbClr val="2F5496"/>
                </a:solidFill>
                <a:latin typeface="Times New Roman"/>
                <a:ea typeface="Times New Roman"/>
                <a:cs typeface="Times New Roman"/>
                <a:sym typeface="Times New Roman"/>
              </a:rPr>
              <a:t>TEMPORALITY shows that </a:t>
            </a:r>
            <a:r>
              <a:rPr lang="en-US" sz="3600" b="0" i="0" u="none" strike="noStrike" cap="none" dirty="0">
                <a:solidFill>
                  <a:srgbClr val="2F5496"/>
                </a:solidFill>
                <a:latin typeface="Times New Roman"/>
                <a:ea typeface="Times New Roman"/>
                <a:cs typeface="Times New Roman"/>
                <a:sym typeface="Times New Roman"/>
              </a:rPr>
              <a:t>the factor (physical activity, PA) </a:t>
            </a:r>
            <a:r>
              <a:rPr lang="en-US" sz="3600" dirty="0">
                <a:solidFill>
                  <a:srgbClr val="2F5496"/>
                </a:solidFill>
                <a:latin typeface="Times New Roman"/>
                <a:ea typeface="Times New Roman"/>
                <a:cs typeface="Times New Roman"/>
                <a:sym typeface="Times New Roman"/>
              </a:rPr>
              <a:t>precede </a:t>
            </a:r>
            <a:r>
              <a:rPr lang="en-US" sz="3600" b="0" i="0" u="none" strike="noStrike" cap="none" dirty="0">
                <a:solidFill>
                  <a:srgbClr val="2F5496"/>
                </a:solidFill>
                <a:latin typeface="Times New Roman"/>
                <a:ea typeface="Times New Roman"/>
                <a:cs typeface="Times New Roman"/>
                <a:sym typeface="Times New Roman"/>
              </a:rPr>
              <a:t>the outcome (diminished incidence of stroke).</a:t>
            </a:r>
            <a:r>
              <a:rPr lang="en-US" sz="3600" dirty="0">
                <a:solidFill>
                  <a:srgbClr val="2F5496"/>
                </a:solidFill>
                <a:latin typeface="Times New Roman"/>
                <a:ea typeface="Times New Roman"/>
                <a:cs typeface="Times New Roman"/>
                <a:sym typeface="Times New Roman"/>
              </a:rPr>
              <a:t> </a:t>
            </a:r>
            <a:r>
              <a:rPr lang="en-US" sz="3600" b="0" i="0" u="none" strike="noStrike" cap="none" dirty="0" err="1">
                <a:solidFill>
                  <a:srgbClr val="2F5496"/>
                </a:solidFill>
                <a:latin typeface="Times New Roman"/>
                <a:ea typeface="Times New Roman"/>
                <a:cs typeface="Times New Roman"/>
                <a:sym typeface="Times New Roman"/>
              </a:rPr>
              <a:t>Morovatdar</a:t>
            </a:r>
            <a:r>
              <a:rPr lang="en-US" sz="3600" b="0" i="0" u="none" strike="noStrike" cap="none" dirty="0">
                <a:solidFill>
                  <a:srgbClr val="2F5496"/>
                </a:solidFill>
                <a:latin typeface="Times New Roman"/>
                <a:ea typeface="Times New Roman"/>
                <a:cs typeface="Times New Roman"/>
                <a:sym typeface="Times New Roman"/>
              </a:rPr>
              <a:t> et al, 2021, in a cohort study of 395 cases of stroke, showed that the inactive were, on average, 6 years younger when their first stroke occurred compared to those who were more physically active.  (60.7 ± 15.5 vs. 67.0 ± 13.2; p &lt; 0.001).  </a:t>
            </a:r>
            <a:r>
              <a:rPr lang="en-US" sz="3600" dirty="0">
                <a:solidFill>
                  <a:srgbClr val="2F5496"/>
                </a:solidFill>
                <a:latin typeface="Times New Roman"/>
                <a:ea typeface="Times New Roman"/>
                <a:cs typeface="Times New Roman"/>
                <a:sym typeface="Times New Roman"/>
              </a:rPr>
              <a:t> </a:t>
            </a:r>
            <a:endParaRPr sz="3600" b="0" i="0" u="none" strike="noStrike" cap="none" dirty="0">
              <a:solidFill>
                <a:srgbClr val="2F5496"/>
              </a:solidFill>
              <a:latin typeface="Times New Roman"/>
              <a:ea typeface="Times New Roman"/>
              <a:cs typeface="Times New Roman"/>
              <a:sym typeface="Times New Roman"/>
            </a:endParaRPr>
          </a:p>
        </p:txBody>
      </p:sp>
      <p:sp>
        <p:nvSpPr>
          <p:cNvPr id="93" name="Google Shape;93;p13"/>
          <p:cNvSpPr txBox="1"/>
          <p:nvPr/>
        </p:nvSpPr>
        <p:spPr>
          <a:xfrm>
            <a:off x="1170250" y="15943650"/>
            <a:ext cx="12051000" cy="3971100"/>
          </a:xfrm>
          <a:prstGeom prst="rect">
            <a:avLst/>
          </a:prstGeom>
          <a:solidFill>
            <a:schemeClr val="lt1"/>
          </a:solidFill>
          <a:ln w="38100" cap="flat" cmpd="sng">
            <a:no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dirty="0">
                <a:solidFill>
                  <a:srgbClr val="000000"/>
                </a:solidFill>
                <a:latin typeface="Times New Roman"/>
                <a:ea typeface="Times New Roman"/>
                <a:cs typeface="Times New Roman"/>
                <a:sym typeface="Times New Roman"/>
              </a:rPr>
              <a:t>CONSISTENCY </a:t>
            </a:r>
            <a:r>
              <a:rPr lang="en-US" sz="3600" b="0" i="0" u="none" strike="noStrike" cap="none" dirty="0">
                <a:solidFill>
                  <a:srgbClr val="000000"/>
                </a:solidFill>
                <a:latin typeface="Times New Roman"/>
                <a:ea typeface="Times New Roman"/>
                <a:cs typeface="Times New Roman"/>
                <a:sym typeface="Times New Roman"/>
              </a:rPr>
              <a:t>indicates that through numerous studies</a:t>
            </a:r>
            <a:r>
              <a:rPr lang="en-US" sz="3600" b="0" i="0" u="none" strike="noStrike" cap="none" dirty="0">
                <a:solidFill>
                  <a:schemeClr val="dk1"/>
                </a:solidFill>
                <a:latin typeface="Times New Roman"/>
                <a:ea typeface="Times New Roman"/>
                <a:cs typeface="Times New Roman"/>
                <a:sym typeface="Times New Roman"/>
              </a:rPr>
              <a:t>,</a:t>
            </a:r>
            <a:r>
              <a:rPr lang="en-US" sz="3600" b="0" i="0" u="none" strike="noStrike" cap="none" dirty="0">
                <a:solidFill>
                  <a:srgbClr val="000000"/>
                </a:solidFill>
                <a:latin typeface="Times New Roman"/>
                <a:ea typeface="Times New Roman"/>
                <a:cs typeface="Times New Roman"/>
                <a:sym typeface="Times New Roman"/>
              </a:rPr>
              <a:t> the identical or similar factor should lead to the same outcome.</a:t>
            </a:r>
            <a:r>
              <a:rPr lang="en-US" sz="3600" b="0" i="0" u="none" strike="noStrike" cap="none" dirty="0">
                <a:solidFill>
                  <a:schemeClr val="dk1"/>
                </a:solidFill>
                <a:latin typeface="Times New Roman"/>
                <a:ea typeface="Times New Roman"/>
                <a:cs typeface="Times New Roman"/>
                <a:sym typeface="Times New Roman"/>
              </a:rPr>
              <a:t> The meta-analysis by</a:t>
            </a:r>
            <a:r>
              <a:rPr lang="en-US" sz="3600" dirty="0">
                <a:solidFill>
                  <a:schemeClr val="dk1"/>
                </a:solidFill>
                <a:latin typeface="Times New Roman"/>
                <a:ea typeface="Times New Roman"/>
                <a:cs typeface="Times New Roman"/>
                <a:sym typeface="Times New Roman"/>
              </a:rPr>
              <a:t> </a:t>
            </a:r>
            <a:r>
              <a:rPr lang="en-US" sz="3600" b="0" i="0" u="none" strike="noStrike" cap="none" dirty="0">
                <a:solidFill>
                  <a:schemeClr val="dk1"/>
                </a:solidFill>
                <a:latin typeface="Times New Roman"/>
                <a:ea typeface="Times New Roman"/>
                <a:cs typeface="Times New Roman"/>
                <a:sym typeface="Times New Roman"/>
              </a:rPr>
              <a:t>Wendel-Vos et al. (2004), observed 31 studies on physical activity and stroke reduction risk to demonstrate consistency. Results showed active occupational workers had a lower ischemic stroke risk (RR=0.57, 95% CI: 0.43, 0.77) than inactive ones. </a:t>
            </a:r>
            <a:endParaRPr sz="3600" b="0" i="0" u="none" strike="noStrike" cap="none" dirty="0">
              <a:solidFill>
                <a:schemeClr val="dk1"/>
              </a:solidFill>
              <a:latin typeface="Times New Roman"/>
              <a:ea typeface="Times New Roman"/>
              <a:cs typeface="Times New Roman"/>
              <a:sym typeface="Times New Roman"/>
            </a:endParaRPr>
          </a:p>
        </p:txBody>
      </p:sp>
      <p:sp>
        <p:nvSpPr>
          <p:cNvPr id="94" name="Google Shape;94;p13"/>
          <p:cNvSpPr txBox="1"/>
          <p:nvPr/>
        </p:nvSpPr>
        <p:spPr>
          <a:xfrm>
            <a:off x="29235417" y="17417302"/>
            <a:ext cx="13140581" cy="5632271"/>
          </a:xfrm>
          <a:prstGeom prst="rect">
            <a:avLst/>
          </a:prstGeom>
          <a:solidFill>
            <a:schemeClr val="lt1"/>
          </a:solidFill>
          <a:ln w="38100" cap="flat" cmpd="sng">
            <a:noFill/>
            <a:prstDash val="solid"/>
            <a:miter lim="800000"/>
            <a:headEnd type="none" w="sm" len="sm"/>
            <a:tailEnd type="none" w="sm" len="sm"/>
          </a:ln>
        </p:spPr>
        <p:txBody>
          <a:bodyPr spcFirstLastPara="1" wrap="square" lIns="91425" tIns="45700" rIns="91425" bIns="45700" anchor="t" anchorCtr="0">
            <a:spAutoFit/>
          </a:bodyPr>
          <a:lstStyle/>
          <a:p>
            <a:pPr marL="0" marR="0" lvl="0" indent="0" algn="r" rtl="0">
              <a:spcBef>
                <a:spcPts val="0"/>
              </a:spcBef>
              <a:spcAft>
                <a:spcPts val="0"/>
              </a:spcAft>
              <a:buNone/>
            </a:pPr>
            <a:r>
              <a:rPr lang="en-US" sz="3600" b="1" i="0" u="none" strike="noStrike" cap="none" dirty="0">
                <a:solidFill>
                  <a:srgbClr val="2F5496"/>
                </a:solidFill>
                <a:latin typeface="Times New Roman"/>
                <a:ea typeface="Times New Roman"/>
                <a:cs typeface="Times New Roman"/>
                <a:sym typeface="Times New Roman"/>
              </a:rPr>
              <a:t>INDEPENDENCE </a:t>
            </a:r>
            <a:r>
              <a:rPr lang="en-US" sz="3600" b="0" i="0" u="none" strike="noStrike" cap="none" dirty="0">
                <a:solidFill>
                  <a:srgbClr val="2F5496"/>
                </a:solidFill>
                <a:latin typeface="Times New Roman"/>
                <a:ea typeface="Times New Roman"/>
                <a:cs typeface="Times New Roman"/>
                <a:sym typeface="Times New Roman"/>
              </a:rPr>
              <a:t>is exhibited when all factors are known and can be identified but only the factor that is being manipulated has a different impact than the other factors to affect the outcome on its own. Gong et al, 2015, showed independence in their RCT of 450 participants.  In comparing standard hypertensive care </a:t>
            </a:r>
          </a:p>
          <a:p>
            <a:pPr marL="0" marR="0" lvl="0" indent="0" algn="r" rtl="0">
              <a:spcBef>
                <a:spcPts val="0"/>
              </a:spcBef>
              <a:spcAft>
                <a:spcPts val="0"/>
              </a:spcAft>
              <a:buNone/>
            </a:pPr>
            <a:r>
              <a:rPr lang="en-US" sz="3600" b="0" i="0" u="none" strike="noStrike" cap="none" dirty="0">
                <a:solidFill>
                  <a:srgbClr val="2F5496"/>
                </a:solidFill>
                <a:latin typeface="Times New Roman"/>
                <a:ea typeface="Times New Roman"/>
                <a:cs typeface="Times New Roman"/>
                <a:sym typeface="Times New Roman"/>
              </a:rPr>
              <a:t>vs. care that emphasized more PA (KM2H</a:t>
            </a:r>
            <a:r>
              <a:rPr lang="en-US" sz="3600" b="0" i="0" u="none" strike="noStrike" cap="none" baseline="30000" dirty="0">
                <a:solidFill>
                  <a:srgbClr val="2F5496"/>
                </a:solidFill>
                <a:latin typeface="Times New Roman"/>
                <a:ea typeface="Times New Roman"/>
                <a:cs typeface="Times New Roman"/>
                <a:sym typeface="Times New Roman"/>
              </a:rPr>
              <a:t>2</a:t>
            </a:r>
            <a:r>
              <a:rPr lang="en-US" sz="3600" b="0" i="0" u="none" strike="noStrike" cap="none" dirty="0">
                <a:solidFill>
                  <a:srgbClr val="2F5496"/>
                </a:solidFill>
                <a:latin typeface="Times New Roman"/>
                <a:ea typeface="Times New Roman"/>
                <a:cs typeface="Times New Roman"/>
                <a:sym typeface="Times New Roman"/>
              </a:rPr>
              <a:t>), those in </a:t>
            </a:r>
          </a:p>
          <a:p>
            <a:pPr marL="0" marR="0" lvl="0" indent="0" algn="r" rtl="0">
              <a:spcBef>
                <a:spcPts val="0"/>
              </a:spcBef>
              <a:spcAft>
                <a:spcPts val="0"/>
              </a:spcAft>
              <a:buNone/>
            </a:pPr>
            <a:r>
              <a:rPr lang="en-US" sz="3600" b="0" i="0" u="none" strike="noStrike" cap="none" dirty="0">
                <a:solidFill>
                  <a:srgbClr val="2F5496"/>
                </a:solidFill>
                <a:latin typeface="Times New Roman"/>
                <a:ea typeface="Times New Roman"/>
                <a:cs typeface="Times New Roman"/>
                <a:sym typeface="Times New Roman"/>
              </a:rPr>
              <a:t>PA group were much less likely to have a </a:t>
            </a:r>
          </a:p>
          <a:p>
            <a:pPr marL="0" marR="0" lvl="0" indent="0" algn="r" rtl="0">
              <a:spcBef>
                <a:spcPts val="0"/>
              </a:spcBef>
              <a:spcAft>
                <a:spcPts val="0"/>
              </a:spcAft>
              <a:buNone/>
            </a:pPr>
            <a:r>
              <a:rPr lang="en-US" sz="3600" b="0" i="0" u="none" strike="noStrike" cap="none" dirty="0">
                <a:solidFill>
                  <a:srgbClr val="2F5496"/>
                </a:solidFill>
                <a:latin typeface="Times New Roman"/>
                <a:ea typeface="Times New Roman"/>
                <a:cs typeface="Times New Roman"/>
                <a:sym typeface="Times New Roman"/>
              </a:rPr>
              <a:t>stroke at 3- and 6-months follow-up (see Fig. 5).  </a:t>
            </a:r>
          </a:p>
          <a:p>
            <a:pPr marL="0" marR="0" lvl="0" indent="0" algn="r" rtl="0">
              <a:spcBef>
                <a:spcPts val="0"/>
              </a:spcBef>
              <a:spcAft>
                <a:spcPts val="0"/>
              </a:spcAft>
              <a:buNone/>
            </a:pPr>
            <a:r>
              <a:rPr lang="en-US" sz="3600" b="0" i="0" u="none" strike="noStrike" cap="none" dirty="0">
                <a:solidFill>
                  <a:srgbClr val="2F5496"/>
                </a:solidFill>
                <a:latin typeface="Times New Roman"/>
                <a:ea typeface="Times New Roman"/>
                <a:cs typeface="Times New Roman"/>
                <a:sym typeface="Times New Roman"/>
              </a:rPr>
              <a:t>The incidence of an MI and hypertension </a:t>
            </a:r>
          </a:p>
          <a:p>
            <a:pPr marL="0" marR="0" lvl="0" indent="0" algn="r" rtl="0">
              <a:spcBef>
                <a:spcPts val="0"/>
              </a:spcBef>
              <a:spcAft>
                <a:spcPts val="0"/>
              </a:spcAft>
              <a:buNone/>
            </a:pPr>
            <a:r>
              <a:rPr lang="en-US" sz="3600" b="0" i="0" u="none" strike="noStrike" cap="none" dirty="0">
                <a:solidFill>
                  <a:srgbClr val="2F5496"/>
                </a:solidFill>
                <a:latin typeface="Times New Roman"/>
                <a:ea typeface="Times New Roman"/>
                <a:cs typeface="Times New Roman"/>
                <a:sym typeface="Times New Roman"/>
              </a:rPr>
              <a:t>was also reduced.  </a:t>
            </a:r>
            <a:endParaRPr sz="3600" b="0" i="0" u="none" strike="noStrike" cap="none" dirty="0">
              <a:solidFill>
                <a:srgbClr val="2F5496"/>
              </a:solidFill>
              <a:latin typeface="Times New Roman"/>
              <a:ea typeface="Times New Roman"/>
              <a:cs typeface="Times New Roman"/>
              <a:sym typeface="Times New Roman"/>
            </a:endParaRPr>
          </a:p>
        </p:txBody>
      </p:sp>
      <p:sp>
        <p:nvSpPr>
          <p:cNvPr id="95" name="Google Shape;95;p13"/>
          <p:cNvSpPr txBox="1"/>
          <p:nvPr/>
        </p:nvSpPr>
        <p:spPr>
          <a:xfrm>
            <a:off x="1170254" y="20351600"/>
            <a:ext cx="8276100" cy="5079600"/>
          </a:xfrm>
          <a:prstGeom prst="rect">
            <a:avLst/>
          </a:prstGeom>
          <a:solidFill>
            <a:schemeClr val="lt1"/>
          </a:solidFill>
          <a:ln w="38100" cap="flat" cmpd="sng">
            <a:no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dirty="0">
                <a:solidFill>
                  <a:srgbClr val="2F5496"/>
                </a:solidFill>
                <a:latin typeface="Times New Roman"/>
                <a:ea typeface="Times New Roman"/>
                <a:cs typeface="Times New Roman"/>
                <a:sym typeface="Times New Roman"/>
              </a:rPr>
              <a:t>STRENGTH OF ASSOCIATION</a:t>
            </a:r>
            <a:r>
              <a:rPr lang="en-US" sz="3600" b="0" i="0" u="none" strike="noStrike" cap="none" dirty="0">
                <a:solidFill>
                  <a:srgbClr val="2F5496"/>
                </a:solidFill>
                <a:latin typeface="Times New Roman"/>
                <a:ea typeface="Times New Roman"/>
                <a:cs typeface="Times New Roman"/>
                <a:sym typeface="Times New Roman"/>
              </a:rPr>
              <a:t> denotes an impactful change on the result(s) when the factor or intervention is altered. </a:t>
            </a:r>
            <a:r>
              <a:rPr lang="en-US" sz="3600" b="0" i="0" u="none" strike="noStrike" cap="none" dirty="0" err="1">
                <a:solidFill>
                  <a:srgbClr val="2F5496"/>
                </a:solidFill>
                <a:latin typeface="Times New Roman"/>
                <a:ea typeface="Times New Roman"/>
                <a:cs typeface="Times New Roman"/>
                <a:sym typeface="Times New Roman"/>
              </a:rPr>
              <a:t>Ghozy</a:t>
            </a:r>
            <a:r>
              <a:rPr lang="en-US" sz="3600" b="0" i="0" u="none" strike="noStrike" cap="none" dirty="0">
                <a:solidFill>
                  <a:srgbClr val="2F5496"/>
                </a:solidFill>
                <a:latin typeface="Times New Roman"/>
                <a:ea typeface="Times New Roman"/>
                <a:cs typeface="Times New Roman"/>
                <a:sym typeface="Times New Roman"/>
              </a:rPr>
              <a:t> et al. (2022), with a large sample size (102,578), depicted strength of association in the form of odds ratio,</a:t>
            </a:r>
            <a:r>
              <a:rPr lang="en-US" sz="3600" dirty="0">
                <a:solidFill>
                  <a:srgbClr val="2F5496"/>
                </a:solidFill>
                <a:latin typeface="Times New Roman"/>
                <a:ea typeface="Times New Roman"/>
                <a:cs typeface="Times New Roman"/>
                <a:sym typeface="Times New Roman"/>
              </a:rPr>
              <a:t> </a:t>
            </a:r>
            <a:r>
              <a:rPr lang="en-US" sz="3600" b="0" i="0" u="none" strike="noStrike" cap="none" dirty="0">
                <a:solidFill>
                  <a:srgbClr val="2F5496"/>
                </a:solidFill>
                <a:latin typeface="Times New Roman"/>
                <a:ea typeface="Times New Roman"/>
                <a:cs typeface="Times New Roman"/>
                <a:sym typeface="Times New Roman"/>
              </a:rPr>
              <a:t>showing about a 20 – 60% reduction in stroke when </a:t>
            </a:r>
            <a:r>
              <a:rPr lang="en-US" sz="3600" dirty="0">
                <a:solidFill>
                  <a:srgbClr val="2F5496"/>
                </a:solidFill>
                <a:latin typeface="Times New Roman"/>
                <a:ea typeface="Times New Roman"/>
                <a:cs typeface="Times New Roman"/>
                <a:sym typeface="Times New Roman"/>
              </a:rPr>
              <a:t>PA </a:t>
            </a:r>
            <a:r>
              <a:rPr lang="en-US" sz="3600" b="0" i="0" u="none" strike="noStrike" cap="none" dirty="0">
                <a:solidFill>
                  <a:srgbClr val="2F5496"/>
                </a:solidFill>
                <a:latin typeface="Times New Roman"/>
                <a:ea typeface="Times New Roman"/>
                <a:cs typeface="Times New Roman"/>
                <a:sym typeface="Times New Roman"/>
              </a:rPr>
              <a:t>is done</a:t>
            </a:r>
            <a:r>
              <a:rPr lang="en-US" sz="3600" dirty="0">
                <a:solidFill>
                  <a:srgbClr val="2F5496"/>
                </a:solidFill>
                <a:latin typeface="Times New Roman"/>
                <a:ea typeface="Times New Roman"/>
                <a:cs typeface="Times New Roman"/>
                <a:sym typeface="Times New Roman"/>
              </a:rPr>
              <a:t>. Fig. 3 is an example of such benefits. </a:t>
            </a:r>
            <a:endParaRPr sz="3600" b="0" i="0" u="none" strike="noStrike" cap="none" dirty="0">
              <a:solidFill>
                <a:srgbClr val="2F5496"/>
              </a:solidFill>
              <a:latin typeface="Times New Roman"/>
              <a:ea typeface="Times New Roman"/>
              <a:cs typeface="Times New Roman"/>
              <a:sym typeface="Times New Roman"/>
            </a:endParaRPr>
          </a:p>
        </p:txBody>
      </p:sp>
      <p:pic>
        <p:nvPicPr>
          <p:cNvPr id="96" name="Google Shape;96;p13"/>
          <p:cNvPicPr preferRelativeResize="0"/>
          <p:nvPr/>
        </p:nvPicPr>
        <p:blipFill rotWithShape="1">
          <a:blip r:embed="rId10">
            <a:alphaModFix/>
          </a:blip>
          <a:srcRect/>
          <a:stretch/>
        </p:blipFill>
        <p:spPr>
          <a:xfrm>
            <a:off x="16432275" y="4305900"/>
            <a:ext cx="11754750" cy="8581161"/>
          </a:xfrm>
          <a:prstGeom prst="rect">
            <a:avLst/>
          </a:prstGeom>
          <a:noFill/>
          <a:ln w="28575">
            <a:solidFill>
              <a:schemeClr val="tx1"/>
            </a:solidFill>
          </a:ln>
        </p:spPr>
      </p:pic>
      <p:sp>
        <p:nvSpPr>
          <p:cNvPr id="97" name="Google Shape;97;p13"/>
          <p:cNvSpPr txBox="1"/>
          <p:nvPr/>
        </p:nvSpPr>
        <p:spPr>
          <a:xfrm>
            <a:off x="16707250" y="12906549"/>
            <a:ext cx="10360800" cy="17081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00" b="1" i="0" u="none" strike="noStrike" cap="none" dirty="0">
                <a:solidFill>
                  <a:schemeClr val="dk1"/>
                </a:solidFill>
                <a:latin typeface="Times New Roman"/>
                <a:ea typeface="Times New Roman"/>
                <a:cs typeface="Times New Roman"/>
                <a:sym typeface="Times New Roman"/>
              </a:rPr>
              <a:t>Fig. 1.</a:t>
            </a:r>
            <a:r>
              <a:rPr lang="en-US" sz="3500" b="0" i="0" u="none" strike="noStrike" cap="none" dirty="0">
                <a:solidFill>
                  <a:schemeClr val="dk1"/>
                </a:solidFill>
                <a:latin typeface="Times New Roman"/>
                <a:ea typeface="Times New Roman"/>
                <a:cs typeface="Times New Roman"/>
                <a:sym typeface="Times New Roman"/>
              </a:rPr>
              <a:t> </a:t>
            </a:r>
            <a:r>
              <a:rPr lang="en-US" sz="3500" b="0" i="1" u="none" strike="noStrike" cap="none" dirty="0">
                <a:solidFill>
                  <a:schemeClr val="dk1"/>
                </a:solidFill>
                <a:latin typeface="Times New Roman"/>
                <a:ea typeface="Times New Roman"/>
                <a:cs typeface="Times New Roman"/>
                <a:sym typeface="Times New Roman"/>
              </a:rPr>
              <a:t>Contribution of young, midlife, and older adults in stroke and cost burden in United States.  </a:t>
            </a:r>
            <a:endParaRPr sz="3500" i="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3500" dirty="0">
              <a:solidFill>
                <a:schemeClr val="dk1"/>
              </a:solidFill>
              <a:latin typeface="Times New Roman"/>
              <a:ea typeface="Times New Roman"/>
              <a:cs typeface="Times New Roman"/>
              <a:sym typeface="Times New Roman"/>
            </a:endParaRPr>
          </a:p>
        </p:txBody>
      </p:sp>
      <p:sp>
        <p:nvSpPr>
          <p:cNvPr id="98" name="Google Shape;98;p13"/>
          <p:cNvSpPr txBox="1"/>
          <p:nvPr/>
        </p:nvSpPr>
        <p:spPr>
          <a:xfrm>
            <a:off x="32934627" y="23344017"/>
            <a:ext cx="9441371" cy="4834616"/>
          </a:xfrm>
          <a:prstGeom prst="rect">
            <a:avLst/>
          </a:prstGeom>
          <a:solidFill>
            <a:schemeClr val="lt1"/>
          </a:solidFill>
          <a:ln w="38100" cap="flat" cmpd="sng">
            <a:noFill/>
            <a:prstDash val="solid"/>
            <a:miter lim="800000"/>
            <a:headEnd type="none" w="sm" len="sm"/>
            <a:tailEnd type="none" w="sm" len="sm"/>
          </a:ln>
        </p:spPr>
        <p:txBody>
          <a:bodyPr spcFirstLastPara="1" wrap="square" lIns="91425" tIns="45700" rIns="91425" bIns="45700" anchor="t" anchorCtr="0">
            <a:spAutoFit/>
          </a:bodyPr>
          <a:lstStyle/>
          <a:p>
            <a:pPr marL="0" marR="0" lvl="0" indent="0" algn="r" rtl="0">
              <a:lnSpc>
                <a:spcPct val="107000"/>
              </a:lnSpc>
              <a:spcBef>
                <a:spcPts val="0"/>
              </a:spcBef>
              <a:spcAft>
                <a:spcPts val="0"/>
              </a:spcAft>
              <a:buNone/>
            </a:pPr>
            <a:r>
              <a:rPr lang="en-US" sz="3600" b="1" u="sng" dirty="0">
                <a:solidFill>
                  <a:schemeClr val="dk1"/>
                </a:solidFill>
                <a:latin typeface="Times New Roman"/>
                <a:ea typeface="Times New Roman"/>
                <a:cs typeface="Times New Roman"/>
                <a:sym typeface="Times New Roman"/>
              </a:rPr>
              <a:t>SUMMARY AND CONCLUSION:</a:t>
            </a:r>
            <a:r>
              <a:rPr lang="en-US" sz="3600" u="sng" dirty="0">
                <a:solidFill>
                  <a:schemeClr val="dk1"/>
                </a:solidFill>
                <a:latin typeface="Times New Roman"/>
                <a:ea typeface="Times New Roman"/>
                <a:cs typeface="Times New Roman"/>
                <a:sym typeface="Times New Roman"/>
              </a:rPr>
              <a:t> </a:t>
            </a:r>
            <a:r>
              <a:rPr lang="en-US" sz="3600" dirty="0">
                <a:solidFill>
                  <a:schemeClr val="dk1"/>
                </a:solidFill>
                <a:latin typeface="Times New Roman"/>
                <a:ea typeface="Times New Roman"/>
                <a:cs typeface="Times New Roman"/>
                <a:sym typeface="Times New Roman"/>
              </a:rPr>
              <a:t>The goal was to examine the association between physical activity and the risk of developing stroke. The significance of addressing Mill's Canons criteria results in these six studies is that the relationship is real. Additionally, the findings reviewed so far, and the substantial evidence revealed that physical activity can reduce the risk of stroke. </a:t>
            </a:r>
            <a:endParaRPr sz="3600" dirty="0">
              <a:solidFill>
                <a:schemeClr val="dk1"/>
              </a:solidFill>
              <a:latin typeface="Calibri"/>
              <a:ea typeface="Calibri"/>
              <a:cs typeface="Calibri"/>
              <a:sym typeface="Calibri"/>
            </a:endParaRPr>
          </a:p>
        </p:txBody>
      </p:sp>
      <p:sp>
        <p:nvSpPr>
          <p:cNvPr id="99" name="Google Shape;99;p13"/>
          <p:cNvSpPr txBox="1"/>
          <p:nvPr/>
        </p:nvSpPr>
        <p:spPr>
          <a:xfrm>
            <a:off x="14316626" y="16225543"/>
            <a:ext cx="12051000" cy="3056246"/>
          </a:xfrm>
          <a:prstGeom prst="rect">
            <a:avLst/>
          </a:prstGeom>
          <a:solidFill>
            <a:schemeClr val="lt1"/>
          </a:solidFill>
          <a:ln w="38100" cap="flat" cmpd="sng">
            <a:solidFill>
              <a:schemeClr val="tx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7000"/>
              </a:lnSpc>
              <a:spcBef>
                <a:spcPts val="0"/>
              </a:spcBef>
              <a:spcAft>
                <a:spcPts val="0"/>
              </a:spcAft>
              <a:buNone/>
            </a:pPr>
            <a:r>
              <a:rPr lang="en-US" sz="3600" b="1" dirty="0">
                <a:solidFill>
                  <a:schemeClr val="accent1">
                    <a:lumMod val="75000"/>
                  </a:schemeClr>
                </a:solidFill>
                <a:latin typeface="Times New Roman"/>
                <a:ea typeface="Times New Roman"/>
                <a:cs typeface="Times New Roman"/>
                <a:sym typeface="Times New Roman"/>
              </a:rPr>
              <a:t>DEFINITIONS:</a:t>
            </a:r>
            <a:r>
              <a:rPr lang="en-US" sz="3600" dirty="0">
                <a:solidFill>
                  <a:schemeClr val="accent1">
                    <a:lumMod val="75000"/>
                  </a:schemeClr>
                </a:solidFill>
                <a:latin typeface="Times New Roman"/>
                <a:ea typeface="Times New Roman"/>
                <a:cs typeface="Times New Roman"/>
                <a:sym typeface="Times New Roman"/>
              </a:rPr>
              <a:t> A </a:t>
            </a:r>
            <a:r>
              <a:rPr lang="en-US" sz="3600" b="1" dirty="0">
                <a:solidFill>
                  <a:schemeClr val="accent1">
                    <a:lumMod val="75000"/>
                  </a:schemeClr>
                </a:solidFill>
                <a:latin typeface="Times New Roman"/>
                <a:ea typeface="Times New Roman"/>
                <a:cs typeface="Times New Roman"/>
                <a:sym typeface="Times New Roman"/>
              </a:rPr>
              <a:t>stroke</a:t>
            </a:r>
            <a:r>
              <a:rPr lang="en-US" sz="3600" dirty="0">
                <a:solidFill>
                  <a:schemeClr val="accent1">
                    <a:lumMod val="75000"/>
                  </a:schemeClr>
                </a:solidFill>
                <a:latin typeface="Times New Roman"/>
                <a:ea typeface="Times New Roman"/>
                <a:cs typeface="Times New Roman"/>
                <a:sym typeface="Times New Roman"/>
              </a:rPr>
              <a:t> occurs when blood circulation to the brain gets blocked (</a:t>
            </a:r>
            <a:r>
              <a:rPr lang="en-US" sz="3600" b="1" dirty="0">
                <a:solidFill>
                  <a:schemeClr val="accent1">
                    <a:lumMod val="75000"/>
                  </a:schemeClr>
                </a:solidFill>
                <a:latin typeface="Times New Roman"/>
                <a:ea typeface="Times New Roman"/>
                <a:cs typeface="Times New Roman"/>
                <a:sym typeface="Times New Roman"/>
              </a:rPr>
              <a:t>ischemic</a:t>
            </a:r>
            <a:r>
              <a:rPr lang="en-US" sz="3600" dirty="0">
                <a:solidFill>
                  <a:schemeClr val="accent1">
                    <a:lumMod val="75000"/>
                  </a:schemeClr>
                </a:solidFill>
                <a:latin typeface="Times New Roman"/>
                <a:ea typeface="Times New Roman"/>
                <a:cs typeface="Times New Roman"/>
                <a:sym typeface="Times New Roman"/>
              </a:rPr>
              <a:t>) and causes bleeding in the brain (</a:t>
            </a:r>
            <a:r>
              <a:rPr lang="en-US" sz="3600" b="1" dirty="0">
                <a:solidFill>
                  <a:schemeClr val="accent1">
                    <a:lumMod val="75000"/>
                  </a:schemeClr>
                </a:solidFill>
                <a:latin typeface="Times New Roman"/>
                <a:ea typeface="Times New Roman"/>
                <a:cs typeface="Times New Roman"/>
                <a:sym typeface="Times New Roman"/>
              </a:rPr>
              <a:t>hemorrhagic</a:t>
            </a:r>
            <a:r>
              <a:rPr lang="en-US" sz="3600" dirty="0">
                <a:solidFill>
                  <a:schemeClr val="accent1">
                    <a:lumMod val="75000"/>
                  </a:schemeClr>
                </a:solidFill>
                <a:latin typeface="Times New Roman"/>
                <a:ea typeface="Times New Roman"/>
                <a:cs typeface="Times New Roman"/>
                <a:sym typeface="Times New Roman"/>
              </a:rPr>
              <a:t>); ischemic is far more common (~90%). </a:t>
            </a:r>
            <a:r>
              <a:rPr lang="en-US" sz="3600" b="1" dirty="0">
                <a:solidFill>
                  <a:schemeClr val="accent1">
                    <a:lumMod val="75000"/>
                  </a:schemeClr>
                </a:solidFill>
                <a:latin typeface="Times New Roman"/>
                <a:ea typeface="Times New Roman"/>
                <a:cs typeface="Times New Roman"/>
                <a:sym typeface="Times New Roman"/>
              </a:rPr>
              <a:t>Odds ratio</a:t>
            </a:r>
            <a:r>
              <a:rPr lang="en-US" sz="3600" dirty="0">
                <a:solidFill>
                  <a:schemeClr val="accent1">
                    <a:lumMod val="75000"/>
                  </a:schemeClr>
                </a:solidFill>
                <a:latin typeface="Times New Roman"/>
                <a:ea typeface="Times New Roman"/>
                <a:cs typeface="Times New Roman"/>
                <a:sym typeface="Times New Roman"/>
              </a:rPr>
              <a:t> and </a:t>
            </a:r>
            <a:r>
              <a:rPr lang="en-US" sz="3600" b="1" dirty="0">
                <a:solidFill>
                  <a:schemeClr val="accent1">
                    <a:lumMod val="75000"/>
                  </a:schemeClr>
                </a:solidFill>
                <a:latin typeface="Times New Roman"/>
                <a:ea typeface="Times New Roman"/>
                <a:cs typeface="Times New Roman"/>
                <a:sym typeface="Times New Roman"/>
              </a:rPr>
              <a:t>relative risks </a:t>
            </a:r>
            <a:r>
              <a:rPr lang="en-US" sz="3600" dirty="0">
                <a:solidFill>
                  <a:schemeClr val="accent1">
                    <a:lumMod val="75000"/>
                  </a:schemeClr>
                </a:solidFill>
                <a:latin typeface="Times New Roman"/>
                <a:ea typeface="Times New Roman"/>
                <a:cs typeface="Times New Roman"/>
                <a:sym typeface="Times New Roman"/>
              </a:rPr>
              <a:t>are attempts to quantify chance of one thing occurring versus another, given a set of circumstances. </a:t>
            </a:r>
            <a:endParaRPr sz="3600" dirty="0">
              <a:solidFill>
                <a:schemeClr val="accent1">
                  <a:lumMod val="75000"/>
                </a:schemeClr>
              </a:solidFill>
              <a:latin typeface="Calibri"/>
              <a:ea typeface="Calibri"/>
              <a:cs typeface="Calibri"/>
              <a:sym typeface="Calibri"/>
            </a:endParaRPr>
          </a:p>
        </p:txBody>
      </p:sp>
      <p:sp>
        <p:nvSpPr>
          <p:cNvPr id="101" name="Google Shape;101;p13"/>
          <p:cNvSpPr txBox="1"/>
          <p:nvPr/>
        </p:nvSpPr>
        <p:spPr>
          <a:xfrm>
            <a:off x="27075129" y="13450980"/>
            <a:ext cx="15300869" cy="3970277"/>
          </a:xfrm>
          <a:prstGeom prst="rect">
            <a:avLst/>
          </a:prstGeom>
          <a:solidFill>
            <a:schemeClr val="lt1"/>
          </a:solidFill>
          <a:ln w="38100" cap="flat" cmpd="sng">
            <a:noFill/>
            <a:prstDash val="solid"/>
            <a:miter lim="800000"/>
            <a:headEnd type="none" w="sm" len="sm"/>
            <a:tailEnd type="none" w="sm" len="sm"/>
          </a:ln>
        </p:spPr>
        <p:txBody>
          <a:bodyPr spcFirstLastPara="1" wrap="square" lIns="91425" tIns="45700" rIns="91425" bIns="45700" anchor="t" anchorCtr="0">
            <a:spAutoFit/>
          </a:bodyPr>
          <a:lstStyle/>
          <a:p>
            <a:pPr marL="0" marR="0" lvl="0" indent="0" algn="r" rtl="0">
              <a:spcBef>
                <a:spcPts val="0"/>
              </a:spcBef>
              <a:spcAft>
                <a:spcPts val="0"/>
              </a:spcAft>
              <a:buNone/>
            </a:pPr>
            <a:r>
              <a:rPr lang="en-US" sz="3600" b="1" i="0" u="none" strike="noStrike" cap="none" dirty="0">
                <a:solidFill>
                  <a:srgbClr val="000000"/>
                </a:solidFill>
                <a:latin typeface="Times New Roman"/>
                <a:ea typeface="Times New Roman"/>
                <a:cs typeface="Times New Roman"/>
                <a:sym typeface="Times New Roman"/>
              </a:rPr>
              <a:t>BIOLOGICAL PLAUSIBILITY</a:t>
            </a:r>
            <a:r>
              <a:rPr lang="en-US" sz="3600" b="0" i="0" u="none" strike="noStrike" cap="none" dirty="0">
                <a:solidFill>
                  <a:srgbClr val="000000"/>
                </a:solidFill>
                <a:latin typeface="Times New Roman"/>
                <a:ea typeface="Times New Roman"/>
                <a:cs typeface="Times New Roman"/>
                <a:sym typeface="Times New Roman"/>
              </a:rPr>
              <a:t> addresses “how” PA might lower the risk of stroke.  Zheng et </a:t>
            </a:r>
            <a:r>
              <a:rPr lang="en-US" sz="3600" b="0" i="0" u="none" strike="noStrike" cap="none" dirty="0">
                <a:solidFill>
                  <a:schemeClr val="dk1"/>
                </a:solidFill>
                <a:latin typeface="Times New Roman"/>
                <a:ea typeface="Times New Roman"/>
                <a:cs typeface="Times New Roman"/>
                <a:sym typeface="Times New Roman"/>
              </a:rPr>
              <a:t>al, 2019, showed that supported biological plausibility by demonstrating that Tai Chi helps lower the risk of stroke and CVD by enhancing blood flow and lowering blood pressure</a:t>
            </a:r>
            <a:r>
              <a:rPr lang="en-US" sz="3600" dirty="0">
                <a:solidFill>
                  <a:schemeClr val="dk1"/>
                </a:solidFill>
                <a:latin typeface="Times New Roman"/>
                <a:ea typeface="Times New Roman"/>
                <a:cs typeface="Times New Roman"/>
                <a:sym typeface="Times New Roman"/>
              </a:rPr>
              <a:t>. </a:t>
            </a:r>
            <a:r>
              <a:rPr lang="en-US" sz="3600" b="0" i="0" u="none" strike="noStrike" cap="none" dirty="0">
                <a:solidFill>
                  <a:schemeClr val="dk1"/>
                </a:solidFill>
                <a:latin typeface="Times New Roman"/>
                <a:ea typeface="Times New Roman"/>
                <a:cs typeface="Times New Roman"/>
                <a:sym typeface="Times New Roman"/>
              </a:rPr>
              <a:t>In their</a:t>
            </a:r>
            <a:r>
              <a:rPr lang="en-US" sz="3600" dirty="0">
                <a:solidFill>
                  <a:schemeClr val="dk1"/>
                </a:solidFill>
                <a:latin typeface="Times New Roman"/>
                <a:ea typeface="Times New Roman"/>
                <a:cs typeface="Times New Roman"/>
                <a:sym typeface="Times New Roman"/>
              </a:rPr>
              <a:t> </a:t>
            </a:r>
            <a:r>
              <a:rPr lang="en-US" sz="3600" b="0" i="0" u="none" strike="noStrike" cap="none" dirty="0">
                <a:solidFill>
                  <a:schemeClr val="dk1"/>
                </a:solidFill>
                <a:latin typeface="Times New Roman"/>
                <a:ea typeface="Times New Roman"/>
                <a:cs typeface="Times New Roman"/>
                <a:sym typeface="Times New Roman"/>
              </a:rPr>
              <a:t>RCT study, 68 out of 133 participants practiced Tai Chi, while 65 engaged in regular exercise. Both groups had better blood flow and lower blood pressure after 12 and 24 weeks of “training.” </a:t>
            </a:r>
            <a:endParaRPr sz="3600" b="0" i="0" u="none" strike="noStrike" cap="none" dirty="0">
              <a:solidFill>
                <a:schemeClr val="dk1"/>
              </a:solidFill>
              <a:latin typeface="Times New Roman"/>
              <a:ea typeface="Times New Roman"/>
              <a:cs typeface="Times New Roman"/>
              <a:sym typeface="Times New Roman"/>
            </a:endParaRPr>
          </a:p>
        </p:txBody>
      </p:sp>
      <p:sp>
        <p:nvSpPr>
          <p:cNvPr id="102" name="Google Shape;102;p13"/>
          <p:cNvSpPr txBox="1"/>
          <p:nvPr/>
        </p:nvSpPr>
        <p:spPr>
          <a:xfrm>
            <a:off x="1170250" y="25870349"/>
            <a:ext cx="17409500" cy="2308284"/>
          </a:xfrm>
          <a:prstGeom prst="rect">
            <a:avLst/>
          </a:prstGeom>
          <a:solidFill>
            <a:schemeClr val="lt1"/>
          </a:solidFill>
          <a:ln w="38100" cap="flat" cmpd="sng">
            <a:noFill/>
            <a:prstDash val="solid"/>
            <a:miter lim="800000"/>
            <a:headEnd type="none" w="sm" len="sm"/>
            <a:tailEnd type="none" w="sm" len="sm"/>
          </a:ln>
        </p:spPr>
        <p:txBody>
          <a:bodyPr spcFirstLastPara="1" wrap="square" lIns="91425" tIns="45700" rIns="91425" bIns="45700" anchor="t" anchorCtr="0">
            <a:spAutoFit/>
          </a:bodyPr>
          <a:lstStyle/>
          <a:p>
            <a:pPr marL="0" marR="0" lvl="0" indent="0" rtl="0">
              <a:spcBef>
                <a:spcPts val="0"/>
              </a:spcBef>
              <a:spcAft>
                <a:spcPts val="0"/>
              </a:spcAft>
              <a:buNone/>
            </a:pPr>
            <a:r>
              <a:rPr lang="en-US" sz="3600" b="1" i="0" u="none" strike="noStrike" cap="none" dirty="0">
                <a:solidFill>
                  <a:schemeClr val="tx1"/>
                </a:solidFill>
                <a:latin typeface="Times New Roman"/>
                <a:ea typeface="Times New Roman"/>
                <a:cs typeface="Times New Roman"/>
                <a:sym typeface="Times New Roman"/>
              </a:rPr>
              <a:t>DOSE-RESPONSE</a:t>
            </a:r>
            <a:r>
              <a:rPr lang="en-US" sz="3600" b="0" i="0" u="none" strike="noStrike" cap="none" dirty="0">
                <a:solidFill>
                  <a:schemeClr val="tx1"/>
                </a:solidFill>
                <a:latin typeface="Times New Roman"/>
                <a:ea typeface="Times New Roman"/>
                <a:cs typeface="Times New Roman"/>
                <a:sym typeface="Times New Roman"/>
              </a:rPr>
              <a:t> is when the factor (whether increasing or decreasing) facilitates a change in outcome, clearly demonstrated with at least three levels of the intervention or factor. Jang et al. (2024), in a study of 13,036 participants, displayed dose-response for PA. </a:t>
            </a:r>
            <a:r>
              <a:rPr lang="en-US" sz="3600" dirty="0">
                <a:solidFill>
                  <a:schemeClr val="tx1"/>
                </a:solidFill>
                <a:latin typeface="Times New Roman"/>
                <a:ea typeface="Times New Roman"/>
                <a:cs typeface="Times New Roman"/>
                <a:sym typeface="Times New Roman"/>
              </a:rPr>
              <a:t>Fig. 4 </a:t>
            </a:r>
            <a:r>
              <a:rPr lang="en-US" sz="3600" b="0" i="0" u="none" strike="noStrike" cap="none" dirty="0">
                <a:solidFill>
                  <a:schemeClr val="tx1"/>
                </a:solidFill>
                <a:latin typeface="Times New Roman"/>
                <a:ea typeface="Times New Roman"/>
                <a:cs typeface="Times New Roman"/>
                <a:sym typeface="Times New Roman"/>
              </a:rPr>
              <a:t>shows that higher levels of total PA (TPA) were related to a lower risk of stroke. </a:t>
            </a:r>
            <a:endParaRPr sz="3600" b="0" i="0" u="none" strike="noStrike" cap="none" dirty="0">
              <a:solidFill>
                <a:schemeClr val="tx1"/>
              </a:solidFill>
              <a:latin typeface="Times New Roman"/>
              <a:ea typeface="Times New Roman"/>
              <a:cs typeface="Times New Roman"/>
              <a:sym typeface="Times New Roman"/>
            </a:endParaRPr>
          </a:p>
        </p:txBody>
      </p:sp>
      <p:sp>
        <p:nvSpPr>
          <p:cNvPr id="103" name="Google Shape;103;p13"/>
          <p:cNvSpPr txBox="1"/>
          <p:nvPr/>
        </p:nvSpPr>
        <p:spPr>
          <a:xfrm>
            <a:off x="39137100" y="10356674"/>
            <a:ext cx="3447650" cy="27853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00" b="1" i="0" u="none" strike="noStrike" cap="none" dirty="0">
                <a:solidFill>
                  <a:schemeClr val="dk1"/>
                </a:solidFill>
                <a:latin typeface="Times New Roman"/>
                <a:ea typeface="Times New Roman"/>
                <a:cs typeface="Times New Roman"/>
                <a:sym typeface="Times New Roman"/>
              </a:rPr>
              <a:t>Fig. </a:t>
            </a:r>
            <a:r>
              <a:rPr lang="en-US" sz="3500" b="1" dirty="0">
                <a:solidFill>
                  <a:schemeClr val="dk1"/>
                </a:solidFill>
                <a:latin typeface="Times New Roman"/>
                <a:ea typeface="Times New Roman"/>
                <a:cs typeface="Times New Roman"/>
                <a:sym typeface="Times New Roman"/>
              </a:rPr>
              <a:t>4</a:t>
            </a:r>
            <a:r>
              <a:rPr lang="en-US" sz="3500" b="1" i="0" u="none" strike="noStrike" cap="none" dirty="0">
                <a:solidFill>
                  <a:schemeClr val="dk1"/>
                </a:solidFill>
                <a:latin typeface="Times New Roman"/>
                <a:ea typeface="Times New Roman"/>
                <a:cs typeface="Times New Roman"/>
                <a:sym typeface="Times New Roman"/>
              </a:rPr>
              <a:t>.</a:t>
            </a:r>
            <a:r>
              <a:rPr lang="en-US" sz="3500" b="0" i="0" u="none" strike="noStrike" cap="none" dirty="0">
                <a:solidFill>
                  <a:schemeClr val="dk1"/>
                </a:solidFill>
                <a:latin typeface="Times New Roman"/>
                <a:ea typeface="Times New Roman"/>
                <a:cs typeface="Times New Roman"/>
                <a:sym typeface="Times New Roman"/>
              </a:rPr>
              <a:t> </a:t>
            </a:r>
            <a:r>
              <a:rPr lang="en-US" sz="3500" i="1" dirty="0">
                <a:solidFill>
                  <a:schemeClr val="dk1"/>
                </a:solidFill>
                <a:latin typeface="Times New Roman"/>
                <a:ea typeface="Times New Roman"/>
                <a:cs typeface="Times New Roman"/>
                <a:sym typeface="Times New Roman"/>
              </a:rPr>
              <a:t>Increasing TPA leads to lesser risk of stroke.   </a:t>
            </a:r>
            <a:endParaRPr sz="35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3500" dirty="0">
              <a:solidFill>
                <a:schemeClr val="dk1"/>
              </a:solidFill>
              <a:latin typeface="Times New Roman"/>
              <a:ea typeface="Times New Roman"/>
              <a:cs typeface="Times New Roman"/>
              <a:sym typeface="Times New Roman"/>
            </a:endParaRPr>
          </a:p>
        </p:txBody>
      </p:sp>
      <p:sp>
        <p:nvSpPr>
          <p:cNvPr id="104" name="Google Shape;104;p13"/>
          <p:cNvSpPr txBox="1"/>
          <p:nvPr/>
        </p:nvSpPr>
        <p:spPr>
          <a:xfrm>
            <a:off x="8596600" y="24591814"/>
            <a:ext cx="11745526" cy="11695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00" b="1" i="0" u="none" strike="noStrike" cap="none" dirty="0">
                <a:solidFill>
                  <a:schemeClr val="dk1"/>
                </a:solidFill>
                <a:latin typeface="Times New Roman"/>
                <a:ea typeface="Times New Roman"/>
                <a:cs typeface="Times New Roman"/>
                <a:sym typeface="Times New Roman"/>
              </a:rPr>
              <a:t>Fig. </a:t>
            </a:r>
            <a:r>
              <a:rPr lang="en-US" sz="3500" b="1" dirty="0">
                <a:solidFill>
                  <a:schemeClr val="dk1"/>
                </a:solidFill>
                <a:latin typeface="Times New Roman"/>
                <a:ea typeface="Times New Roman"/>
                <a:cs typeface="Times New Roman"/>
                <a:sym typeface="Times New Roman"/>
              </a:rPr>
              <a:t>3</a:t>
            </a:r>
            <a:r>
              <a:rPr lang="en-US" sz="3500" b="1" i="0" u="none" strike="noStrike" cap="none" dirty="0">
                <a:solidFill>
                  <a:schemeClr val="dk1"/>
                </a:solidFill>
                <a:latin typeface="Times New Roman"/>
                <a:ea typeface="Times New Roman"/>
                <a:cs typeface="Times New Roman"/>
                <a:sym typeface="Times New Roman"/>
              </a:rPr>
              <a:t>.</a:t>
            </a:r>
            <a:r>
              <a:rPr lang="en-US" sz="3500" b="0" i="0" u="none" strike="noStrike" cap="none" dirty="0">
                <a:solidFill>
                  <a:schemeClr val="dk1"/>
                </a:solidFill>
                <a:latin typeface="Times New Roman"/>
                <a:ea typeface="Times New Roman"/>
                <a:cs typeface="Times New Roman"/>
                <a:sym typeface="Times New Roman"/>
              </a:rPr>
              <a:t> </a:t>
            </a:r>
            <a:r>
              <a:rPr lang="en-US" sz="3500" i="1" dirty="0">
                <a:solidFill>
                  <a:schemeClr val="dk1"/>
                </a:solidFill>
                <a:latin typeface="Times New Roman"/>
                <a:ea typeface="Times New Roman"/>
                <a:cs typeface="Times New Roman"/>
                <a:sym typeface="Times New Roman"/>
              </a:rPr>
              <a:t>Odds ratio showing effects of physical activity (e.g., muscle strength activity) on stroke occurrence.</a:t>
            </a:r>
            <a:endParaRPr sz="3500" i="1" dirty="0">
              <a:solidFill>
                <a:schemeClr val="dk1"/>
              </a:solidFill>
              <a:latin typeface="Times New Roman"/>
              <a:ea typeface="Times New Roman"/>
              <a:cs typeface="Times New Roman"/>
              <a:sym typeface="Times New Roman"/>
            </a:endParaRPr>
          </a:p>
        </p:txBody>
      </p:sp>
      <p:sp>
        <p:nvSpPr>
          <p:cNvPr id="105" name="Google Shape;105;p13"/>
          <p:cNvSpPr txBox="1"/>
          <p:nvPr/>
        </p:nvSpPr>
        <p:spPr>
          <a:xfrm>
            <a:off x="19973002" y="27074094"/>
            <a:ext cx="12225799" cy="17081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00" b="1" i="0" u="none" strike="noStrike" cap="none" dirty="0">
                <a:solidFill>
                  <a:schemeClr val="dk1"/>
                </a:solidFill>
                <a:latin typeface="Times New Roman"/>
                <a:ea typeface="Times New Roman"/>
                <a:cs typeface="Times New Roman"/>
                <a:sym typeface="Times New Roman"/>
              </a:rPr>
              <a:t>Fig. </a:t>
            </a:r>
            <a:r>
              <a:rPr lang="en-US" sz="3500" b="1" dirty="0">
                <a:solidFill>
                  <a:schemeClr val="dk1"/>
                </a:solidFill>
                <a:latin typeface="Times New Roman"/>
                <a:ea typeface="Times New Roman"/>
                <a:cs typeface="Times New Roman"/>
                <a:sym typeface="Times New Roman"/>
              </a:rPr>
              <a:t>5</a:t>
            </a:r>
            <a:r>
              <a:rPr lang="en-US" sz="3500" b="1" i="0" u="none" strike="noStrike" cap="none" dirty="0">
                <a:solidFill>
                  <a:schemeClr val="dk1"/>
                </a:solidFill>
                <a:latin typeface="Times New Roman"/>
                <a:ea typeface="Times New Roman"/>
                <a:cs typeface="Times New Roman"/>
                <a:sym typeface="Times New Roman"/>
              </a:rPr>
              <a:t>.</a:t>
            </a:r>
            <a:r>
              <a:rPr lang="en-US" sz="3500" b="0" i="0" u="none" strike="noStrike" cap="none" dirty="0">
                <a:solidFill>
                  <a:schemeClr val="dk1"/>
                </a:solidFill>
                <a:latin typeface="Times New Roman"/>
                <a:ea typeface="Times New Roman"/>
                <a:cs typeface="Times New Roman"/>
                <a:sym typeface="Times New Roman"/>
              </a:rPr>
              <a:t> </a:t>
            </a:r>
            <a:r>
              <a:rPr lang="en-US" sz="3500" i="1" dirty="0">
                <a:solidFill>
                  <a:schemeClr val="dk1"/>
                </a:solidFill>
                <a:latin typeface="Times New Roman"/>
                <a:ea typeface="Times New Roman"/>
                <a:cs typeface="Times New Roman"/>
                <a:sym typeface="Times New Roman"/>
              </a:rPr>
              <a:t>Statistical difference between KM2H2 program + standard care or standard care on stroke and heart attack incidence. </a:t>
            </a:r>
            <a:endParaRPr sz="3500" i="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3500" dirty="0">
              <a:solidFill>
                <a:schemeClr val="dk1"/>
              </a:solidFill>
              <a:latin typeface="Times New Roman"/>
              <a:ea typeface="Times New Roman"/>
              <a:cs typeface="Times New Roman"/>
              <a:sym typeface="Times New Roman"/>
            </a:endParaRPr>
          </a:p>
        </p:txBody>
      </p:sp>
      <p:sp>
        <p:nvSpPr>
          <p:cNvPr id="107" name="Google Shape;107;p13"/>
          <p:cNvSpPr txBox="1"/>
          <p:nvPr/>
        </p:nvSpPr>
        <p:spPr>
          <a:xfrm>
            <a:off x="8034949" y="14412992"/>
            <a:ext cx="7972649" cy="17081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00" b="1" i="0" u="none" strike="noStrike" cap="none" dirty="0">
                <a:solidFill>
                  <a:schemeClr val="dk1"/>
                </a:solidFill>
                <a:latin typeface="Times New Roman"/>
                <a:ea typeface="Times New Roman"/>
                <a:cs typeface="Times New Roman"/>
                <a:sym typeface="Times New Roman"/>
              </a:rPr>
              <a:t>Fig. </a:t>
            </a:r>
            <a:r>
              <a:rPr lang="en-US" sz="3500" b="1" dirty="0">
                <a:solidFill>
                  <a:schemeClr val="dk1"/>
                </a:solidFill>
                <a:latin typeface="Times New Roman"/>
                <a:ea typeface="Times New Roman"/>
                <a:cs typeface="Times New Roman"/>
                <a:sym typeface="Times New Roman"/>
              </a:rPr>
              <a:t>2</a:t>
            </a:r>
            <a:r>
              <a:rPr lang="en-US" sz="3500" b="1" i="0" u="none" strike="noStrike" cap="none" dirty="0">
                <a:solidFill>
                  <a:schemeClr val="dk1"/>
                </a:solidFill>
                <a:latin typeface="Times New Roman"/>
                <a:ea typeface="Times New Roman"/>
                <a:cs typeface="Times New Roman"/>
                <a:sym typeface="Times New Roman"/>
              </a:rPr>
              <a:t>.</a:t>
            </a:r>
            <a:r>
              <a:rPr lang="en-US" sz="3500" b="0" i="0" u="none" strike="noStrike" cap="none" dirty="0">
                <a:solidFill>
                  <a:schemeClr val="dk1"/>
                </a:solidFill>
                <a:latin typeface="Times New Roman"/>
                <a:ea typeface="Times New Roman"/>
                <a:cs typeface="Times New Roman"/>
                <a:sym typeface="Times New Roman"/>
              </a:rPr>
              <a:t> </a:t>
            </a:r>
            <a:r>
              <a:rPr lang="en-US" sz="3500" i="1" dirty="0">
                <a:solidFill>
                  <a:schemeClr val="dk1"/>
                </a:solidFill>
                <a:latin typeface="Times New Roman"/>
                <a:ea typeface="Times New Roman"/>
                <a:cs typeface="Times New Roman"/>
                <a:sym typeface="Times New Roman"/>
              </a:rPr>
              <a:t>Death rates from stroke among ages 35+ by county in the United States.  </a:t>
            </a:r>
            <a:endParaRPr sz="3500" i="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3500" dirty="0">
              <a:solidFill>
                <a:schemeClr val="dk1"/>
              </a:solidFill>
              <a:latin typeface="Times New Roman"/>
              <a:ea typeface="Times New Roman"/>
              <a:cs typeface="Times New Roman"/>
              <a:sym typeface="Times New Roman"/>
            </a:endParaRPr>
          </a:p>
        </p:txBody>
      </p:sp>
      <p:pic>
        <p:nvPicPr>
          <p:cNvPr id="84" name="Google Shape;84;p13"/>
          <p:cNvPicPr preferRelativeResize="0"/>
          <p:nvPr/>
        </p:nvPicPr>
        <p:blipFill rotWithShape="1">
          <a:blip r:embed="rId11">
            <a:alphaModFix/>
          </a:blip>
          <a:srcRect l="1626" r="6973"/>
          <a:stretch/>
        </p:blipFill>
        <p:spPr>
          <a:xfrm>
            <a:off x="19767096" y="20373077"/>
            <a:ext cx="12392049" cy="6462633"/>
          </a:xfrm>
          <a:prstGeom prst="rect">
            <a:avLst/>
          </a:prstGeom>
          <a:noFill/>
          <a:ln w="28575">
            <a:solidFill>
              <a:schemeClr val="tx1"/>
            </a:solidFill>
          </a:ln>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795</TotalTime>
  <Words>2231</Words>
  <Application>Microsoft Office PowerPoint</Application>
  <PresentationFormat>Custom</PresentationFormat>
  <Paragraphs>23</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James Crabbe</dc:creator>
  <cp:lastModifiedBy>Damilare A</cp:lastModifiedBy>
  <cp:revision>9</cp:revision>
  <dcterms:modified xsi:type="dcterms:W3CDTF">2026-09-20T02:51:09Z</dcterms:modified>
</cp:coreProperties>
</file>